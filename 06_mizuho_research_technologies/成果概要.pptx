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ags/tag2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08" r:id="rId3"/>
    <p:sldMasterId id="2147483919" r:id="rId4"/>
    <p:sldMasterId id="2147483965" r:id="rId5"/>
  </p:sldMasterIdLst>
  <p:notesMasterIdLst>
    <p:notesMasterId r:id="rId8"/>
  </p:notesMasterIdLst>
  <p:handoutMasterIdLst>
    <p:handoutMasterId r:id="rId9"/>
  </p:handoutMasterIdLst>
  <p:sldIdLst>
    <p:sldId id="2147472653" r:id="rId6"/>
    <p:sldId id="425" r:id="rId7"/>
  </p:sldIdLst>
  <p:sldSz cx="9906000" cy="6858000" type="A4"/>
  <p:notesSz cx="6807200" cy="9939338"/>
  <p:custDataLst>
    <p:tags r:id="rId10"/>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312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B4D51E-36AD-437B-94ED-29FBF4A71AD0}" v="2" dt="2024-06-11T04:06:10.074"/>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91" autoAdjust="0"/>
  </p:normalViewPr>
  <p:slideViewPr>
    <p:cSldViewPr snapToGrid="0" showGuides="1">
      <p:cViewPr varScale="1">
        <p:scale>
          <a:sx n="157" d="100"/>
          <a:sy n="157" d="100"/>
        </p:scale>
        <p:origin x="1434" y="150"/>
      </p:cViewPr>
      <p:guideLst>
        <p:guide pos="312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74" d="100"/>
          <a:sy n="74" d="100"/>
        </p:scale>
        <p:origin x="4044"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3.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2.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C85D748-EDF5-72AD-A12B-11D25A8930BA}"/>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0E94C6B-CEBE-A8BC-2562-5DDE6897DCCC}"/>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F2C8F3A3-07AD-427D-8E22-DD858B88B29D}" type="datetimeFigureOut">
              <a:rPr kumimoji="1" lang="ja-JP" altLang="en-US" smtClean="0"/>
              <a:t>2024/6/11</a:t>
            </a:fld>
            <a:endParaRPr kumimoji="1" lang="ja-JP" altLang="en-US"/>
          </a:p>
        </p:txBody>
      </p:sp>
      <p:sp>
        <p:nvSpPr>
          <p:cNvPr id="4" name="フッター プレースホルダー 3">
            <a:extLst>
              <a:ext uri="{FF2B5EF4-FFF2-40B4-BE49-F238E27FC236}">
                <a16:creationId xmlns:a16="http://schemas.microsoft.com/office/drawing/2014/main" id="{91B140E9-14C2-A29D-1107-2D0B2711F652}"/>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A763F226-09A3-D57E-BF47-E11E079CB5D9}"/>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2991E0DE-9570-4C61-AE68-708F6D0731A7}" type="slidenum">
              <a:rPr kumimoji="1" lang="ja-JP" altLang="en-US" smtClean="0"/>
              <a:t>‹#›</a:t>
            </a:fld>
            <a:endParaRPr kumimoji="1" lang="ja-JP" altLang="en-US"/>
          </a:p>
        </p:txBody>
      </p:sp>
    </p:spTree>
    <p:extLst>
      <p:ext uri="{BB962C8B-B14F-4D97-AF65-F5344CB8AC3E}">
        <p14:creationId xmlns:p14="http://schemas.microsoft.com/office/powerpoint/2010/main" val="17639102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50375" cy="498966"/>
          </a:xfrm>
          <a:prstGeom prst="rect">
            <a:avLst/>
          </a:prstGeom>
        </p:spPr>
        <p:txBody>
          <a:bodyPr vert="horz" lIns="92236" tIns="46118" rIns="92236" bIns="46118" rtlCol="0"/>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3" name="日付プレースホルダー 2"/>
          <p:cNvSpPr>
            <a:spLocks noGrp="1"/>
          </p:cNvSpPr>
          <p:nvPr>
            <p:ph type="dt" idx="1"/>
          </p:nvPr>
        </p:nvSpPr>
        <p:spPr>
          <a:xfrm>
            <a:off x="3855221" y="0"/>
            <a:ext cx="2950374" cy="498966"/>
          </a:xfrm>
          <a:prstGeom prst="rect">
            <a:avLst/>
          </a:prstGeom>
        </p:spPr>
        <p:txBody>
          <a:bodyPr vert="horz" lIns="92236" tIns="46118" rIns="92236" bIns="46118"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pPr/>
              <a:t>2024/6/11</a:t>
            </a:fld>
            <a:endParaRPr kumimoji="1" lang="ja-JP" altLang="en-US"/>
          </a:p>
        </p:txBody>
      </p:sp>
      <p:sp>
        <p:nvSpPr>
          <p:cNvPr id="4" name="スライド イメージ プレースホルダー 3"/>
          <p:cNvSpPr>
            <a:spLocks noGrp="1" noRot="1" noChangeAspect="1"/>
          </p:cNvSpPr>
          <p:nvPr>
            <p:ph type="sldImg" idx="2"/>
          </p:nvPr>
        </p:nvSpPr>
        <p:spPr>
          <a:xfrm>
            <a:off x="982663" y="1243013"/>
            <a:ext cx="4841875" cy="3352800"/>
          </a:xfrm>
          <a:prstGeom prst="rect">
            <a:avLst/>
          </a:prstGeom>
          <a:noFill/>
          <a:ln w="12700">
            <a:solidFill>
              <a:prstClr val="black"/>
            </a:solidFill>
          </a:ln>
        </p:spPr>
        <p:txBody>
          <a:bodyPr vert="horz" lIns="92236" tIns="46118" rIns="92236" bIns="46118" rtlCol="0" anchor="ctr"/>
          <a:lstStyle/>
          <a:p>
            <a:endParaRPr lang="ja-JP" altLang="en-US" dirty="0"/>
          </a:p>
        </p:txBody>
      </p:sp>
      <p:sp>
        <p:nvSpPr>
          <p:cNvPr id="5" name="ノート プレースホルダー 4"/>
          <p:cNvSpPr>
            <a:spLocks noGrp="1"/>
          </p:cNvSpPr>
          <p:nvPr>
            <p:ph type="body" sz="quarter" idx="3"/>
          </p:nvPr>
        </p:nvSpPr>
        <p:spPr>
          <a:xfrm>
            <a:off x="680239" y="4783357"/>
            <a:ext cx="5446723" cy="3913364"/>
          </a:xfrm>
          <a:prstGeom prst="rect">
            <a:avLst/>
          </a:prstGeom>
        </p:spPr>
        <p:txBody>
          <a:bodyPr vert="horz" lIns="92236" tIns="46118" rIns="92236" bIns="46118"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1" y="9440372"/>
            <a:ext cx="2950375" cy="498966"/>
          </a:xfrm>
          <a:prstGeom prst="rect">
            <a:avLst/>
          </a:prstGeom>
        </p:spPr>
        <p:txBody>
          <a:bodyPr vert="horz" lIns="92236" tIns="46118" rIns="92236" bIns="46118" rtlCol="0" anchor="b"/>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7" name="スライド番号プレースホルダー 6"/>
          <p:cNvSpPr>
            <a:spLocks noGrp="1"/>
          </p:cNvSpPr>
          <p:nvPr>
            <p:ph type="sldNum" sz="quarter" idx="5"/>
          </p:nvPr>
        </p:nvSpPr>
        <p:spPr>
          <a:xfrm>
            <a:off x="3855221" y="9440372"/>
            <a:ext cx="2950374" cy="498966"/>
          </a:xfrm>
          <a:prstGeom prst="rect">
            <a:avLst/>
          </a:prstGeom>
        </p:spPr>
        <p:txBody>
          <a:bodyPr vert="horz" lIns="92236" tIns="46118" rIns="92236" bIns="46118"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pPr/>
              <a:t>‹#›</a:t>
            </a:fld>
            <a:endParaRPr kumimoji="1" lang="ja-JP" altLang="en-US"/>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00150" y="630238"/>
            <a:ext cx="4457700" cy="3086100"/>
          </a:xfrm>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endParaRPr lang="ja-JP" altLang="en-US" sz="1200" dirty="0">
              <a:solidFill>
                <a:schemeClr val="accent2">
                  <a:lumMod val="75000"/>
                  <a:lumOff val="25000"/>
                </a:schemeClr>
              </a:solidFill>
            </a:endParaRP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9AAED7-EB68-B44B-A29A-E9CFE7A1147D}" type="slidenum">
              <a:rPr kumimoji="1" lang="ja-JP" altLang="en-US" sz="1200" b="0" i="0" u="none" strike="noStrike" kern="1200" cap="none" spc="0" normalizeH="0" baseline="0" noProof="0" smtClean="0">
                <a:ln>
                  <a:noFill/>
                </a:ln>
                <a:solidFill>
                  <a:srgbClr val="000000"/>
                </a:solidFill>
                <a:effectLst/>
                <a:uLnTx/>
                <a:uFillTx/>
                <a:latin typeface="Meiryo UI"/>
                <a:ea typeface="Meiryo UI"/>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srgbClr val="000000"/>
              </a:solidFill>
              <a:effectLst/>
              <a:uLnTx/>
              <a:uFillTx/>
              <a:latin typeface="Meiryo UI"/>
              <a:ea typeface="Meiryo UI"/>
              <a:cs typeface="+mn-cs"/>
            </a:endParaRPr>
          </a:p>
        </p:txBody>
      </p:sp>
    </p:spTree>
    <p:extLst>
      <p:ext uri="{BB962C8B-B14F-4D97-AF65-F5344CB8AC3E}">
        <p14:creationId xmlns:p14="http://schemas.microsoft.com/office/powerpoint/2010/main" val="33150589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137499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6496" y="432000"/>
            <a:ext cx="1872000" cy="587972"/>
          </a:xfrm>
          <a:prstGeom prst="rect">
            <a:avLst/>
          </a:prstGeom>
        </p:spPr>
      </p:pic>
      <p:sp>
        <p:nvSpPr>
          <p:cNvPr id="6" name="日付プレースホルダー 5">
            <a:extLst>
              <a:ext uri="{FF2B5EF4-FFF2-40B4-BE49-F238E27FC236}">
                <a16:creationId xmlns:a16="http://schemas.microsoft.com/office/drawing/2014/main" id="{3C0424FA-1860-43B7-8A94-43021EEC50FC}"/>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1058155235"/>
      </p:ext>
    </p:extLst>
  </p:cSld>
  <p:clrMapOvr>
    <a:masterClrMapping/>
  </p:clrMapOvr>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838639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5C5A3295-3564-4576-96DB-80CBF7A205A7}"/>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2543739819"/>
      </p:ext>
    </p:extLst>
  </p:cSld>
  <p:clrMapOvr>
    <a:masterClrMapping/>
  </p:clrMapOvr>
  <p:hf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4215721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11" name="図 10">
            <a:extLst>
              <a:ext uri="{FF2B5EF4-FFF2-40B4-BE49-F238E27FC236}">
                <a16:creationId xmlns:a16="http://schemas.microsoft.com/office/drawing/2014/main" id="{E823F930-1440-4D98-B4B0-A60A3B34534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0" y="432000"/>
            <a:ext cx="1872000" cy="581488"/>
          </a:xfrm>
          <a:prstGeom prst="rect">
            <a:avLst/>
          </a:prstGeom>
        </p:spPr>
      </p:pic>
      <p:sp>
        <p:nvSpPr>
          <p:cNvPr id="6" name="日付プレースホルダー 5">
            <a:extLst>
              <a:ext uri="{FF2B5EF4-FFF2-40B4-BE49-F238E27FC236}">
                <a16:creationId xmlns:a16="http://schemas.microsoft.com/office/drawing/2014/main" id="{72F109B1-F10E-4107-A5FF-847826BE510A}"/>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3291538517"/>
      </p:ext>
    </p:extLst>
  </p:cSld>
  <p:clrMapOvr>
    <a:masterClrMapping/>
  </p:clrMapOvr>
  <p:hf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74857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A205A9A3-5008-49F4-8A06-BC95DA2477A8}"/>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793438547"/>
      </p:ext>
    </p:extLst>
  </p:cSld>
  <p:clrMapOvr>
    <a:masterClrMapping/>
  </p:clrMapOvr>
  <p:hf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59983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17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5133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982903191"/>
      </p:ext>
    </p:extLst>
  </p:cSld>
  <p:clrMapOvr>
    <a:masterClrMapping/>
  </p:clrMapOvr>
  <p:hf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040479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endParaRPr lang="en-GB" altLang="en-GB" dirty="0"/>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6" name="テキスト プレースホルダー 5"/>
          <p:cNvSpPr>
            <a:spLocks noGrp="1"/>
          </p:cNvSpPr>
          <p:nvPr>
            <p:ph type="body" sz="quarter" idx="12"/>
          </p:nvPr>
        </p:nvSpPr>
        <p:spPr bwMode="gray">
          <a:xfrm>
            <a:off x="1893000" y="2340000"/>
            <a:ext cx="6120000"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136759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29599" y="2232000"/>
            <a:ext cx="5184000"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dirty="0"/>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0228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68936300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3969020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7000" y="180000"/>
            <a:ext cx="9072000"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a:xfrm>
            <a:off x="416496" y="684000"/>
            <a:ext cx="9072000" cy="615600"/>
          </a:xfrm>
        </p:spPr>
        <p:txBody>
          <a:bodyPr vert="horz" anchor="t"/>
          <a:lstStyle>
            <a:lvl1pPr>
              <a:defRPr sz="1800" b="0" baseline="0">
                <a:latin typeface="+mn-lt"/>
                <a:ea typeface="+mn-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195220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689392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2"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250688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232190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5132388"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3" name="テキスト プレースホルダー 2"/>
          <p:cNvSpPr>
            <a:spLocks noGrp="1"/>
          </p:cNvSpPr>
          <p:nvPr>
            <p:ph type="body" sz="quarter" idx="16" hasCustomPrompt="1"/>
          </p:nvPr>
        </p:nvSpPr>
        <p:spPr bwMode="gray">
          <a:xfrm>
            <a:off x="5132388"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78493855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137810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16999" y="1476000"/>
            <a:ext cx="9072000" cy="4824000"/>
          </a:xfrm>
          <a:prstGeom prst="rect">
            <a:avLst/>
          </a:prstGeom>
        </p:spPr>
        <p:txBody>
          <a:bodyPr/>
          <a:lstStyle>
            <a:lvl1pPr>
              <a:lnSpc>
                <a:spcPct val="110000"/>
              </a:lnSpc>
              <a:spcBef>
                <a:spcPts val="600"/>
              </a:spcBef>
              <a:buFont typeface="Arial" pitchFamily="34" charset="0"/>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38382665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9698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4" name="テキスト プレースホルダー 13">
            <a:extLst>
              <a:ext uri="{FF2B5EF4-FFF2-40B4-BE49-F238E27FC236}">
                <a16:creationId xmlns:a16="http://schemas.microsoft.com/office/drawing/2014/main" id="{4D4831B1-A04A-42C3-BD52-942B25744B6D}"/>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a:extLst>
              <a:ext uri="{FF2B5EF4-FFF2-40B4-BE49-F238E27FC236}">
                <a16:creationId xmlns:a16="http://schemas.microsoft.com/office/drawing/2014/main" id="{7F14F7E8-2C42-4BD2-8B4C-7C658763AB7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7600" y="432000"/>
            <a:ext cx="1872000" cy="587972"/>
          </a:xfrm>
          <a:prstGeom prst="rect">
            <a:avLst/>
          </a:prstGeom>
        </p:spPr>
      </p:pic>
      <p:sp>
        <p:nvSpPr>
          <p:cNvPr id="8" name="Text Box 37">
            <a:extLst>
              <a:ext uri="{FF2B5EF4-FFF2-40B4-BE49-F238E27FC236}">
                <a16:creationId xmlns:a16="http://schemas.microsoft.com/office/drawing/2014/main" id="{D6BA3D81-CAD1-43DC-A531-54F7C4DC8DF8}"/>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4" name="図 3">
            <a:extLst>
              <a:ext uri="{FF2B5EF4-FFF2-40B4-BE49-F238E27FC236}">
                <a16:creationId xmlns:a16="http://schemas.microsoft.com/office/drawing/2014/main" id="{784D5B73-DF9C-49AC-94A2-96EF6F33C255}"/>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118093057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423403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1" name="テキスト プレースホルダー 13">
            <a:extLst>
              <a:ext uri="{FF2B5EF4-FFF2-40B4-BE49-F238E27FC236}">
                <a16:creationId xmlns:a16="http://schemas.microsoft.com/office/drawing/2014/main" id="{EC10764A-D9E5-4773-9998-E6E340EF200C}"/>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08C8D089-6B7B-4D22-A423-606FF0A072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1" y="432000"/>
            <a:ext cx="1870453" cy="586800"/>
          </a:xfrm>
          <a:prstGeom prst="rect">
            <a:avLst/>
          </a:prstGeom>
        </p:spPr>
      </p:pic>
      <p:sp>
        <p:nvSpPr>
          <p:cNvPr id="8" name="Text Box 37">
            <a:extLst>
              <a:ext uri="{FF2B5EF4-FFF2-40B4-BE49-F238E27FC236}">
                <a16:creationId xmlns:a16="http://schemas.microsoft.com/office/drawing/2014/main" id="{8ECAF025-B44C-4744-8C34-DBC751A55D36}"/>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6" name="図 5">
            <a:extLst>
              <a:ext uri="{FF2B5EF4-FFF2-40B4-BE49-F238E27FC236}">
                <a16:creationId xmlns:a16="http://schemas.microsoft.com/office/drawing/2014/main" id="{EA662424-EC38-41B4-918D-98953BBCEA84}"/>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414685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441586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0" name="テキスト プレースホルダー 13">
            <a:extLst>
              <a:ext uri="{FF2B5EF4-FFF2-40B4-BE49-F238E27FC236}">
                <a16:creationId xmlns:a16="http://schemas.microsoft.com/office/drawing/2014/main" id="{8D7302B4-C3B2-43C1-A9E9-2DFB590FF1E9}"/>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881D215A-DF31-4FC4-A706-4B6A3613D035}"/>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16496" y="431005"/>
            <a:ext cx="3447786" cy="586800"/>
          </a:xfrm>
          <a:prstGeom prst="rect">
            <a:avLst/>
          </a:prstGeom>
          <a:noFill/>
          <a:ln>
            <a:noFill/>
          </a:ln>
        </p:spPr>
      </p:pic>
      <p:sp>
        <p:nvSpPr>
          <p:cNvPr id="8" name="Text Box 37">
            <a:extLst>
              <a:ext uri="{FF2B5EF4-FFF2-40B4-BE49-F238E27FC236}">
                <a16:creationId xmlns:a16="http://schemas.microsoft.com/office/drawing/2014/main" id="{5FB43949-A16F-4CF9-89FA-2868A80FA4F7}"/>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12" name="図 11">
            <a:extLst>
              <a:ext uri="{FF2B5EF4-FFF2-40B4-BE49-F238E27FC236}">
                <a16:creationId xmlns:a16="http://schemas.microsoft.com/office/drawing/2014/main" id="{4770B572-0E41-4F38-9C69-20D76FA470AF}"/>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348466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769900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0" name="テキスト プレースホルダー 13">
            <a:extLst>
              <a:ext uri="{FF2B5EF4-FFF2-40B4-BE49-F238E27FC236}">
                <a16:creationId xmlns:a16="http://schemas.microsoft.com/office/drawing/2014/main" id="{98ED7F2A-D8F8-44B8-9950-656D3B6AC777}"/>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66211CF3-AF55-4BB2-ABA6-DFDFA3C5155C}"/>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17600" y="432000"/>
            <a:ext cx="3449948" cy="586076"/>
          </a:xfrm>
          <a:prstGeom prst="rect">
            <a:avLst/>
          </a:prstGeom>
        </p:spPr>
      </p:pic>
      <p:sp>
        <p:nvSpPr>
          <p:cNvPr id="9" name="Text Box 37">
            <a:extLst>
              <a:ext uri="{FF2B5EF4-FFF2-40B4-BE49-F238E27FC236}">
                <a16:creationId xmlns:a16="http://schemas.microsoft.com/office/drawing/2014/main" id="{97296455-89ED-4F08-B776-BE18D4C8DF8F}"/>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12" name="図 11">
            <a:extLst>
              <a:ext uri="{FF2B5EF4-FFF2-40B4-BE49-F238E27FC236}">
                <a16:creationId xmlns:a16="http://schemas.microsoft.com/office/drawing/2014/main" id="{D2BBA463-2249-4A4A-80B9-2AD354819623}"/>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3087478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補足版） タイトルのみ_A4">
    <p:spTree>
      <p:nvGrpSpPr>
        <p:cNvPr id="1" name=""/>
        <p:cNvGrpSpPr/>
        <p:nvPr/>
      </p:nvGrpSpPr>
      <p:grpSpPr>
        <a:xfrm>
          <a:off x="0" y="0"/>
          <a:ext cx="0" cy="0"/>
          <a:chOff x="0" y="0"/>
          <a:chExt cx="0" cy="0"/>
        </a:xfrm>
      </p:grpSpPr>
      <p:graphicFrame>
        <p:nvGraphicFramePr>
          <p:cNvPr id="6" name="オブジェクト 5" hidden="1"/>
          <p:cNvGraphicFramePr>
            <a:graphicFrameLocks noChangeAspect="1"/>
          </p:cNvGraphicFramePr>
          <p:nvPr userDrawn="1">
            <p:custDataLst>
              <p:tags r:id="rId1"/>
            </p:custDataLst>
            <p:extLst>
              <p:ext uri="{D42A27DB-BD31-4B8C-83A1-F6EECF244321}">
                <p14:modId xmlns:p14="http://schemas.microsoft.com/office/powerpoint/2010/main" val="1440040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6" name="オブジェクト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baseline="0">
                <a:solidFill>
                  <a:schemeClr val="tx1"/>
                </a:solidFill>
                <a:latin typeface="+mn-lt"/>
                <a:ea typeface="+mn-ea"/>
                <a:cs typeface="+mn-cs"/>
                <a:sym typeface="+mn-lt"/>
              </a:defRPr>
            </a:lvl1pPr>
          </a:lstStyle>
          <a:p>
            <a:fld id="{56E56C22-CD92-4A50-AAD1-E2171E0619BD}" type="slidenum">
              <a:rPr lang="ja-JP" altLang="en-US" smtClean="0"/>
              <a:pPr/>
              <a:t>‹#›</a:t>
            </a:fld>
            <a:endParaRPr lang="ja-JP" altLang="en-US" dirty="0"/>
          </a:p>
        </p:txBody>
      </p:sp>
      <p:sp>
        <p:nvSpPr>
          <p:cNvPr id="5" name="テキスト プレースホルダ 5"/>
          <p:cNvSpPr>
            <a:spLocks noGrp="1"/>
          </p:cNvSpPr>
          <p:nvPr>
            <p:ph type="body" sz="quarter" idx="14" hasCustomPrompt="1"/>
          </p:nvPr>
        </p:nvSpPr>
        <p:spPr bwMode="gray">
          <a:xfrm>
            <a:off x="417000" y="1009580"/>
            <a:ext cx="9072000" cy="468000"/>
          </a:xfrm>
          <a:prstGeom prst="rect">
            <a:avLst/>
          </a:prstGeom>
        </p:spPr>
        <p:txBody>
          <a:bodyPr lIns="0" tIns="0" rIns="0" bIns="0">
            <a:noAutofit/>
          </a:bodyPr>
          <a:lstStyle>
            <a:lvl1pPr marL="0" indent="0">
              <a:spcBef>
                <a:spcPts val="0"/>
              </a:spcBef>
              <a:defRPr sz="1400" baseline="0">
                <a:solidFill>
                  <a:schemeClr val="tx1"/>
                </a:solidFill>
                <a:latin typeface="+mn-lt"/>
                <a:ea typeface="+mn-ea"/>
                <a:cs typeface="+mn-cs"/>
                <a:sym typeface="+mn-lt"/>
              </a:defRPr>
            </a:lvl1pPr>
          </a:lstStyle>
          <a:p>
            <a:pPr lvl="0"/>
            <a:r>
              <a:rPr kumimoji="1" lang="ja-JP" altLang="en-US" dirty="0"/>
              <a:t>補足文を入力（キーメッセージを補足する内容＜</a:t>
            </a:r>
            <a:r>
              <a:rPr kumimoji="1" lang="en-US" altLang="ja-JP" dirty="0"/>
              <a:t>2</a:t>
            </a:r>
            <a:r>
              <a:rPr kumimoji="1" lang="ja-JP" altLang="en-US" dirty="0"/>
              <a:t>行以内＞）</a:t>
            </a:r>
          </a:p>
        </p:txBody>
      </p:sp>
      <p:sp>
        <p:nvSpPr>
          <p:cNvPr id="8" name="テキスト プレースホルダー 7"/>
          <p:cNvSpPr>
            <a:spLocks noGrp="1"/>
          </p:cNvSpPr>
          <p:nvPr>
            <p:ph type="body" sz="quarter" idx="15"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6521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補足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9125528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E01102E1-88D9-4790-8615-AC810340BF51}"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0" name="テキスト プレースホルダ 5"/>
          <p:cNvSpPr>
            <a:spLocks noGrp="1"/>
          </p:cNvSpPr>
          <p:nvPr>
            <p:ph type="body" sz="quarter" idx="14" hasCustomPrompt="1"/>
          </p:nvPr>
        </p:nvSpPr>
        <p:spPr bwMode="gray">
          <a:xfrm>
            <a:off x="4176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6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745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補足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841428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2917B94E-3120-478C-8085-A9F2B368A1AE}"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a:xfrm>
            <a:off x="7050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2" name="テキスト プレースホルダ 5"/>
          <p:cNvSpPr>
            <a:spLocks noGrp="1"/>
          </p:cNvSpPr>
          <p:nvPr>
            <p:ph type="body" sz="quarter" idx="15"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3" name="コンテンツ プレースホルダ 2"/>
          <p:cNvSpPr>
            <a:spLocks noGrp="1"/>
          </p:cNvSpPr>
          <p:nvPr>
            <p:ph idx="1"/>
          </p:nvPr>
        </p:nvSpPr>
        <p:spPr bwMode="gray">
          <a:xfrm>
            <a:off x="4170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14" name="コンテンツ プレースホルダ 2"/>
          <p:cNvSpPr>
            <a:spLocks noGrp="1"/>
          </p:cNvSpPr>
          <p:nvPr>
            <p:ph idx="17"/>
          </p:nvPr>
        </p:nvSpPr>
        <p:spPr bwMode="gray">
          <a:xfrm>
            <a:off x="5132388"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8"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8" name="テキスト プレースホルダー 2"/>
          <p:cNvSpPr>
            <a:spLocks noGrp="1"/>
          </p:cNvSpPr>
          <p:nvPr>
            <p:ph type="body" sz="quarter" idx="19" hasCustomPrompt="1"/>
          </p:nvPr>
        </p:nvSpPr>
        <p:spPr bwMode="gray">
          <a:xfrm>
            <a:off x="5132388"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998751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補足版） コンテンツ全面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75963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4D9FACC8-259C-46ED-9283-8CCF027B3826}"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 5"/>
          <p:cNvSpPr>
            <a:spLocks noGrp="1"/>
          </p:cNvSpPr>
          <p:nvPr>
            <p:ph type="body" sz="quarter" idx="14"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599" y="1944000"/>
            <a:ext cx="9072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vl5pPr marL="504000" indent="0">
              <a:buNone/>
              <a:defRPr/>
            </a:lvl5pPr>
          </a:lstStyle>
          <a:p>
            <a:pPr lvl="0"/>
            <a:r>
              <a:rPr lang="ja-JP" altLang="en-US" dirty="0"/>
              <a:t>マスター テキストの書式設定</a:t>
            </a:r>
            <a:endParaRPr lang="en-US" altLang="ja-JP" dirty="0"/>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endParaRPr lang="en-US" altLang="ja-JP" dirty="0"/>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48587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D4885B-2DFA-D04D-AE48-F73602DA6A2E}"/>
              </a:ext>
            </a:extLst>
          </p:cNvPr>
          <p:cNvSpPr>
            <a:spLocks noGrp="1"/>
          </p:cNvSpPr>
          <p:nvPr>
            <p:ph type="title" hasCustomPrompt="1"/>
          </p:nvPr>
        </p:nvSpPr>
        <p:spPr/>
        <p:txBody>
          <a:bodyPr/>
          <a:lstStyle/>
          <a:p>
            <a:r>
              <a:rPr kumimoji="1" lang="ja-JP" altLang="en-US"/>
              <a:t>［タイトル］</a:t>
            </a:r>
          </a:p>
        </p:txBody>
      </p:sp>
      <p:sp>
        <p:nvSpPr>
          <p:cNvPr id="3" name="Text Placeholder 2">
            <a:extLst>
              <a:ext uri="{FF2B5EF4-FFF2-40B4-BE49-F238E27FC236}">
                <a16:creationId xmlns:a16="http://schemas.microsoft.com/office/drawing/2014/main" id="{C5C3BFEB-E3E2-40B7-A253-8DF9A4ADA8FA}"/>
              </a:ext>
            </a:extLst>
          </p:cNvPr>
          <p:cNvSpPr>
            <a:spLocks noGrp="1"/>
          </p:cNvSpPr>
          <p:nvPr>
            <p:ph type="body" sz="quarter" idx="12" hasCustomPrompt="1"/>
          </p:nvPr>
        </p:nvSpPr>
        <p:spPr>
          <a:xfrm>
            <a:off x="331490" y="689356"/>
            <a:ext cx="9243021" cy="363157"/>
          </a:xfrm>
          <a:prstGeom prst="rect">
            <a:avLst/>
          </a:prstGeom>
        </p:spPr>
        <p:txBody>
          <a:bodyPr tIns="46800" anchor="ctr" anchorCtr="0">
            <a:noAutofit/>
          </a:bodyPr>
          <a:lstStyle>
            <a:lvl1pPr>
              <a:defRPr lang="en-US" sz="2000" b="1" spc="0" baseline="0" dirty="0">
                <a:solidFill>
                  <a:schemeClr val="tx1"/>
                </a:solidFill>
                <a:latin typeface="+mj-ea"/>
                <a:ea typeface="+mj-ea"/>
                <a:cs typeface="Arial"/>
              </a:defRPr>
            </a:lvl1pPr>
          </a:lstStyle>
          <a:p>
            <a:pPr marL="226470" marR="0" lvl="0" indent="-226470">
              <a:lnSpc>
                <a:spcPct val="100000"/>
              </a:lnSpc>
              <a:spcBef>
                <a:spcPct val="20000"/>
              </a:spcBef>
              <a:buClrTx/>
              <a:buSzTx/>
              <a:buFont typeface="+mj-lt"/>
              <a:buNone/>
              <a:tabLst/>
            </a:pPr>
            <a:r>
              <a:rPr lang="ja-JP" altLang="en-US"/>
              <a:t>［サブタイトル］</a:t>
            </a:r>
            <a:endParaRPr lang="en-US" dirty="0"/>
          </a:p>
        </p:txBody>
      </p:sp>
      <p:sp>
        <p:nvSpPr>
          <p:cNvPr id="7" name="テキスト プレースホルダー 7">
            <a:extLst>
              <a:ext uri="{FF2B5EF4-FFF2-40B4-BE49-F238E27FC236}">
                <a16:creationId xmlns:a16="http://schemas.microsoft.com/office/drawing/2014/main" id="{C1BF904A-EDA9-CB42-9930-B694DF35C532}"/>
              </a:ext>
            </a:extLst>
          </p:cNvPr>
          <p:cNvSpPr>
            <a:spLocks noGrp="1"/>
          </p:cNvSpPr>
          <p:nvPr>
            <p:ph type="body" sz="quarter" idx="13" hasCustomPrompt="1"/>
          </p:nvPr>
        </p:nvSpPr>
        <p:spPr>
          <a:xfrm>
            <a:off x="331491" y="1160463"/>
            <a:ext cx="9243021"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733225577"/>
      </p:ext>
    </p:extLst>
  </p:cSld>
  <p:clrMapOvr>
    <a:masterClrMapping/>
  </p:clrMapOvr>
  <p:extLst>
    <p:ext uri="{DCECCB84-F9BA-43D5-87BE-67443E8EF086}">
      <p15:sldGuideLst xmlns:p15="http://schemas.microsoft.com/office/powerpoint/2012/main">
        <p15:guide id="3" orient="horz" pos="663">
          <p15:clr>
            <a:srgbClr val="FBAE40"/>
          </p15:clr>
        </p15:guide>
        <p15:guide id="4" orient="horz" pos="73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1F77EE-9DF9-8847-B74D-DAE7D40F8D1E}"/>
              </a:ext>
            </a:extLst>
          </p:cNvPr>
          <p:cNvSpPr>
            <a:spLocks noGrp="1"/>
          </p:cNvSpPr>
          <p:nvPr>
            <p:ph type="title" hasCustomPrompt="1"/>
          </p:nvPr>
        </p:nvSpPr>
        <p:spPr/>
        <p:txBody>
          <a:bodyPr/>
          <a:lstStyle/>
          <a:p>
            <a:r>
              <a:rPr kumimoji="1" lang="ja-JP" altLang="en-US"/>
              <a:t>［タイトル］</a:t>
            </a:r>
          </a:p>
        </p:txBody>
      </p:sp>
      <p:sp>
        <p:nvSpPr>
          <p:cNvPr id="4" name="テキスト プレースホルダー 3">
            <a:extLst>
              <a:ext uri="{FF2B5EF4-FFF2-40B4-BE49-F238E27FC236}">
                <a16:creationId xmlns:a16="http://schemas.microsoft.com/office/drawing/2014/main" id="{257AB5C0-48AC-A342-8863-43A85345298E}"/>
              </a:ext>
            </a:extLst>
          </p:cNvPr>
          <p:cNvSpPr>
            <a:spLocks noGrp="1"/>
          </p:cNvSpPr>
          <p:nvPr>
            <p:ph type="body" sz="quarter" idx="10" hasCustomPrompt="1"/>
          </p:nvPr>
        </p:nvSpPr>
        <p:spPr>
          <a:xfrm>
            <a:off x="331788" y="692151"/>
            <a:ext cx="9242425" cy="648970"/>
          </a:xfrm>
        </p:spPr>
        <p:txBody>
          <a:bodyPr/>
          <a:lstStyle/>
          <a:p>
            <a:pPr lvl="0"/>
            <a:r>
              <a:rPr kumimoji="1" lang="ja-JP" altLang="en-US" dirty="0"/>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153865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コンテンツC">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5284491" y="164693"/>
            <a:ext cx="4290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04FB84B0-3BCF-114D-8BC7-C7AEA4D473F5}"/>
              </a:ext>
            </a:extLst>
          </p:cNvPr>
          <p:cNvPicPr>
            <a:picLocks noChangeAspect="1"/>
          </p:cNvPicPr>
          <p:nvPr userDrawn="1"/>
        </p:nvPicPr>
        <p:blipFill>
          <a:blip r:embed="rId2"/>
          <a:stretch>
            <a:fillRect/>
          </a:stretch>
        </p:blipFill>
        <p:spPr>
          <a:xfrm>
            <a:off x="0" y="0"/>
            <a:ext cx="4953000" cy="6858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5284492" y="692151"/>
            <a:ext cx="4290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524667041"/>
      </p:ext>
    </p:extLst>
  </p:cSld>
  <p:clrMapOvr>
    <a:masterClrMapping/>
  </p:clrMapOvr>
  <p:extLst>
    <p:ext uri="{DCECCB84-F9BA-43D5-87BE-67443E8EF086}">
      <p15:sldGuideLst xmlns:p15="http://schemas.microsoft.com/office/powerpoint/2012/main">
        <p15:guide id="1" pos="332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コンテンツ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31491" y="3700676"/>
            <a:ext cx="9243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E240AB3A-033A-AD4A-9002-9D106C05D0C0}"/>
              </a:ext>
            </a:extLst>
          </p:cNvPr>
          <p:cNvPicPr>
            <a:picLocks noChangeAspect="1"/>
          </p:cNvPicPr>
          <p:nvPr userDrawn="1"/>
        </p:nvPicPr>
        <p:blipFill>
          <a:blip r:embed="rId2"/>
          <a:stretch>
            <a:fillRect/>
          </a:stretch>
        </p:blipFill>
        <p:spPr>
          <a:xfrm>
            <a:off x="0" y="0"/>
            <a:ext cx="9906000" cy="3429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331491" y="4221163"/>
            <a:ext cx="9243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837691899"/>
      </p:ext>
    </p:extLst>
  </p:cSld>
  <p:clrMapOvr>
    <a:masterClrMapping/>
  </p:clrMapOvr>
  <p:extLst>
    <p:ext uri="{DCECCB84-F9BA-43D5-87BE-67443E8EF086}">
      <p15:sldGuideLst xmlns:p15="http://schemas.microsoft.com/office/powerpoint/2012/main">
        <p15:guide id="1" orient="horz" pos="2591">
          <p15:clr>
            <a:srgbClr val="FBAE40"/>
          </p15:clr>
        </p15:guide>
        <p15:guide id="2" orient="horz" pos="265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9.xml"/><Relationship Id="rId7" Type="http://schemas.openxmlformats.org/officeDocument/2006/relationships/oleObject" Target="../embeddings/oleObject18.bin"/><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ags" Target="../tags/tag19.xml"/><Relationship Id="rId5" Type="http://schemas.openxmlformats.org/officeDocument/2006/relationships/theme" Target="../theme/theme2.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slideLayout" Target="../slideLayouts/slideLayout23.xml"/><Relationship Id="rId7" Type="http://schemas.openxmlformats.org/officeDocument/2006/relationships/oleObject" Target="../embeddings/oleObject23.bin"/><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ags" Target="../tags/tag24.xml"/><Relationship Id="rId5" Type="http://schemas.openxmlformats.org/officeDocument/2006/relationships/theme" Target="../theme/theme3.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extLst>
              <p:ext uri="{D42A27DB-BD31-4B8C-83A1-F6EECF244321}">
                <p14:modId xmlns:p14="http://schemas.microsoft.com/office/powerpoint/2010/main" val="1435923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9" imgW="563" imgH="564" progId="TCLayout.ActiveDocument.1">
                  <p:embed/>
                </p:oleObj>
              </mc:Choice>
              <mc:Fallback>
                <p:oleObj name="think-cell スライド" r:id="rId19" imgW="563" imgH="564" progId="TCLayout.ActiveDocument.1">
                  <p:embed/>
                  <p:pic>
                    <p:nvPicPr>
                      <p:cNvPr id="4" name="オブジェクト 3" hidden="1"/>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6999" y="1476000"/>
            <a:ext cx="9073075" cy="4824000"/>
          </a:xfrm>
          <a:prstGeom prst="rect">
            <a:avLst/>
          </a:prstGeom>
        </p:spPr>
        <p:txBody>
          <a:bodyPr vert="horz" lIns="0" tIns="0" rIns="0" bIns="0" rtlCol="0">
            <a:no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endParaRPr kumimoji="1" lang="en-US" altLang="ja-JP" dirty="0"/>
          </a:p>
          <a:p>
            <a:pPr lvl="2"/>
            <a:r>
              <a:rPr kumimoji="1" lang="ja-JP" altLang="en-US" dirty="0"/>
              <a:t>第 </a:t>
            </a:r>
            <a:r>
              <a:rPr kumimoji="1" lang="en-US" altLang="ja-JP" dirty="0"/>
              <a:t>2 </a:t>
            </a:r>
            <a:r>
              <a:rPr kumimoji="1" lang="ja-JP" altLang="en-US" dirty="0"/>
              <a:t>レベル</a:t>
            </a:r>
            <a:endParaRPr kumimoji="1" lang="en-US" altLang="ja-JP" dirty="0"/>
          </a:p>
          <a:p>
            <a:pPr lvl="3"/>
            <a:r>
              <a:rPr kumimoji="1" lang="ja-JP" altLang="en-US" dirty="0"/>
              <a:t>第 </a:t>
            </a:r>
            <a:r>
              <a:rPr kumimoji="1" lang="en-US" altLang="ja-JP" dirty="0"/>
              <a:t>3 </a:t>
            </a:r>
            <a:r>
              <a:rPr kumimoji="1" lang="ja-JP" altLang="en-US" dirty="0"/>
              <a:t>レベル</a:t>
            </a:r>
            <a:endParaRPr kumimoji="1" lang="en-US" altLang="ja-JP" dirty="0"/>
          </a:p>
        </p:txBody>
      </p:sp>
      <p:sp>
        <p:nvSpPr>
          <p:cNvPr id="5" name="日付プレースホルダー 4">
            <a:extLst>
              <a:ext uri="{FF2B5EF4-FFF2-40B4-BE49-F238E27FC236}">
                <a16:creationId xmlns:a16="http://schemas.microsoft.com/office/drawing/2014/main" id="{E4C0FFE5-9BDB-4F97-92E4-5E9243BDA74A}"/>
              </a:ext>
            </a:extLst>
          </p:cNvPr>
          <p:cNvSpPr>
            <a:spLocks noGrp="1"/>
          </p:cNvSpPr>
          <p:nvPr>
            <p:ph type="dt" sz="half" idx="2"/>
          </p:nvPr>
        </p:nvSpPr>
        <p:spPr bwMode="gray">
          <a:xfrm>
            <a:off x="4508167" y="6444000"/>
            <a:ext cx="889667"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endParaRPr lang="en-US" dirty="0"/>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51" r:id="rId3"/>
    <p:sldLayoutId id="2147483952" r:id="rId4"/>
    <p:sldLayoutId id="2147483911" r:id="rId5"/>
    <p:sldLayoutId id="2147483912" r:id="rId6"/>
    <p:sldLayoutId id="2147483934" r:id="rId7"/>
    <p:sldLayoutId id="2147483936" r:id="rId8"/>
    <p:sldLayoutId id="2147483953" r:id="rId9"/>
    <p:sldLayoutId id="2147483937" r:id="rId10"/>
    <p:sldLayoutId id="2147483938" r:id="rId11"/>
    <p:sldLayoutId id="2147483939" r:id="rId12"/>
    <p:sldLayoutId id="2147483954" r:id="rId13"/>
    <p:sldLayoutId id="2147483955" r:id="rId14"/>
    <p:sldLayoutId id="2147483956" r:id="rId15"/>
    <p:sldLayoutId id="2147483957" r:id="rId16"/>
  </p:sldLayoutIdLst>
  <p:hf hdr="0"/>
  <p:txStyles>
    <p:titleStyle>
      <a:lvl1pPr algn="l" defTabSz="990564"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200" b="0" kern="1200">
          <a:solidFill>
            <a:schemeClr val="tx1"/>
          </a:solidFill>
          <a:latin typeface="+mn-lt"/>
          <a:ea typeface="+mn-ea"/>
          <a:cs typeface="+mn-cs"/>
          <a:sym typeface="+mn-lt"/>
        </a:defRPr>
      </a:lvl1pPr>
      <a:lvl2pPr marL="18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200" b="0" kern="1200" dirty="0" smtClean="0">
          <a:solidFill>
            <a:schemeClr val="tx1"/>
          </a:solidFill>
          <a:latin typeface="+mn-lt"/>
          <a:ea typeface="+mn-ea"/>
          <a:cs typeface="+mn-cs"/>
          <a:sym typeface="+mn-lt"/>
        </a:defRPr>
      </a:lvl2pPr>
      <a:lvl3pPr marL="36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200" b="0" kern="1200" dirty="0" smtClean="0">
          <a:solidFill>
            <a:schemeClr val="tx1"/>
          </a:solidFill>
          <a:latin typeface="+mn-lt"/>
          <a:ea typeface="+mn-ea"/>
          <a:cs typeface="+mn-cs"/>
          <a:sym typeface="+mn-lt"/>
        </a:defRPr>
      </a:lvl3pPr>
      <a:lvl4pPr marL="504000" marR="0" indent="-144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120">
          <p15:clr>
            <a:srgbClr val="A4A3A4"/>
          </p15:clr>
        </p15:guide>
        <p15:guide id="1" orient="horz" pos="96">
          <p15:clr>
            <a:srgbClr val="A4A3A4"/>
          </p15:clr>
        </p15:guide>
        <p15:guide id="2" pos="3007">
          <p15:clr>
            <a:srgbClr val="A4A3A4"/>
          </p15:clr>
        </p15:guide>
        <p15:guide id="3" pos="3233">
          <p15:clr>
            <a:srgbClr val="A4A3A4"/>
          </p15:clr>
        </p15:guide>
        <p15:guide id="4" pos="5978">
          <p15:clr>
            <a:srgbClr val="A4A3A4"/>
          </p15:clr>
        </p15:guide>
        <p15:guide id="5" pos="262">
          <p15:clr>
            <a:srgbClr val="A4A3A4"/>
          </p15:clr>
        </p15:guide>
        <p15:guide id="6" orient="horz" pos="504">
          <p15:clr>
            <a:srgbClr val="A4A3A4"/>
          </p15:clr>
        </p15:guide>
        <p15:guide id="7" orient="horz" pos="640">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6"/>
            </p:custDataLst>
            <p:extLst>
              <p:ext uri="{D42A27DB-BD31-4B8C-83A1-F6EECF244321}">
                <p14:modId xmlns:p14="http://schemas.microsoft.com/office/powerpoint/2010/main" val="2688600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7" imgW="563" imgH="564" progId="TCLayout.ActiveDocument.1">
                  <p:embed/>
                </p:oleObj>
              </mc:Choice>
              <mc:Fallback>
                <p:oleObj name="think-cell スライド" r:id="rId7" imgW="563" imgH="564" progId="TCLayout.ActiveDocument.1">
                  <p:embed/>
                  <p:pic>
                    <p:nvPicPr>
                      <p:cNvPr id="4" name="オブジェクト 3"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7600" y="1476000"/>
            <a:ext cx="9072000" cy="4824000"/>
          </a:xfrm>
          <a:prstGeom prst="rect">
            <a:avLst/>
          </a:prstGeom>
        </p:spPr>
        <p:txBody>
          <a:bodyPr vert="horz" lIns="0" tIns="0" rIns="0" bIns="0" rtlCol="0">
            <a:norm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p>
          <a:p>
            <a:pPr lvl="2"/>
            <a:r>
              <a:rPr kumimoji="1" lang="ja-JP" altLang="en-US" dirty="0"/>
              <a:t>第 </a:t>
            </a:r>
            <a:r>
              <a:rPr kumimoji="1" lang="en-US" altLang="ja-JP" dirty="0"/>
              <a:t>2 </a:t>
            </a:r>
            <a:r>
              <a:rPr kumimoji="1" lang="ja-JP" altLang="en-US" dirty="0"/>
              <a:t>レベル</a:t>
            </a:r>
          </a:p>
          <a:p>
            <a:pPr lvl="3"/>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48" r:id="rId1"/>
    <p:sldLayoutId id="2147483941" r:id="rId2"/>
    <p:sldLayoutId id="2147483949" r:id="rId3"/>
    <p:sldLayoutId id="2147483950" r:id="rId4"/>
  </p:sldLayoutIdLst>
  <p:hf hdr="0"/>
  <p:txStyles>
    <p:titleStyle>
      <a:lvl1pPr algn="l" defTabSz="990564" rtl="0" eaLnBrk="1" latinLnBrk="0" hangingPunct="1">
        <a:spcBef>
          <a:spcPct val="0"/>
        </a:spcBef>
        <a:buNone/>
        <a:defRPr kumimoji="1" sz="2000" b="1" kern="1200">
          <a:solidFill>
            <a:schemeClr val="tx1"/>
          </a:solidFill>
          <a:latin typeface="+mj-lt"/>
          <a:ea typeface="+mj-ea"/>
          <a:cs typeface="+mj-cs"/>
          <a:sym typeface="+mj-lt"/>
        </a:defRPr>
      </a:lvl1pPr>
    </p:titleStyle>
    <p:bodyStyle>
      <a:lvl1pPr marL="0" indent="0" algn="l" defTabSz="990564" rtl="0" eaLnBrk="1" latinLnBrk="0" hangingPunct="1">
        <a:lnSpc>
          <a:spcPct val="110000"/>
        </a:lnSpc>
        <a:spcBef>
          <a:spcPts val="600"/>
        </a:spcBef>
        <a:spcAft>
          <a:spcPts val="0"/>
        </a:spcAft>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8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000" indent="-144000" algn="l" defTabSz="990564" rtl="0" eaLnBrk="1"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0">
          <p15:clr>
            <a:srgbClr val="A4A3A4"/>
          </p15:clr>
        </p15:guide>
        <p15:guide id="2" orient="horz" pos="96">
          <p15:clr>
            <a:srgbClr val="A4A3A4"/>
          </p15:clr>
        </p15:guide>
        <p15:guide id="3" pos="3007">
          <p15:clr>
            <a:srgbClr val="A4A3A4"/>
          </p15:clr>
        </p15:guide>
        <p15:guide id="4" pos="3233">
          <p15:clr>
            <a:srgbClr val="A4A3A4"/>
          </p15:clr>
        </p15:guide>
        <p15:guide id="5" pos="5978">
          <p15:clr>
            <a:srgbClr val="A4A3A4"/>
          </p15:clr>
        </p15:guide>
        <p15:guide id="6" pos="262">
          <p15:clr>
            <a:srgbClr val="A4A3A4"/>
          </p15:clr>
        </p15:guide>
        <p15:guide id="7" orient="horz" pos="504">
          <p15:clr>
            <a:srgbClr val="A4A3A4"/>
          </p15:clr>
        </p15:guide>
        <p15:guide id="8" orient="horz" pos="640">
          <p15:clr>
            <a:srgbClr val="A4A3A4"/>
          </p15:clr>
        </p15:guide>
        <p15:guide id="9" orient="horz" pos="935">
          <p15:clr>
            <a:srgbClr val="A4A3A4"/>
          </p15:clr>
        </p15:guide>
        <p15:guide id="10" orient="horz" pos="3974">
          <p15:clr>
            <a:srgbClr val="A4A3A4"/>
          </p15:clr>
        </p15:guide>
        <p15:guide id="11" orient="horz" pos="4156">
          <p15:clr>
            <a:srgbClr val="A4A3A4"/>
          </p15:clr>
        </p15:guide>
        <p15:guide id="12" orient="horz" pos="4269">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20E84AC-8395-D52F-57C2-E14A47C8BAFC}"/>
              </a:ext>
            </a:extLst>
          </p:cNvPr>
          <p:cNvGraphicFramePr>
            <a:graphicFrameLocks noChangeAspect="1"/>
          </p:cNvGraphicFramePr>
          <p:nvPr userDrawn="1">
            <p:custDataLst>
              <p:tags r:id="rId6"/>
            </p:custDataLst>
            <p:extLst>
              <p:ext uri="{D42A27DB-BD31-4B8C-83A1-F6EECF244321}">
                <p14:modId xmlns:p14="http://schemas.microsoft.com/office/powerpoint/2010/main" val="817662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7" imgW="622" imgH="623" progId="TCLayout.ActiveDocument.1">
                  <p:embed/>
                </p:oleObj>
              </mc:Choice>
              <mc:Fallback>
                <p:oleObj name="think-cell スライド" r:id="rId7" imgW="622" imgH="623" progId="TCLayout.ActiveDocument.1">
                  <p:embed/>
                  <p:pic>
                    <p:nvPicPr>
                      <p:cNvPr id="7" name="think-cell data - do not delete" hidden="1">
                        <a:extLst>
                          <a:ext uri="{FF2B5EF4-FFF2-40B4-BE49-F238E27FC236}">
                            <a16:creationId xmlns:a16="http://schemas.microsoft.com/office/drawing/2014/main" id="{220E84AC-8395-D52F-57C2-E14A47C8BAF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0" y="164693"/>
            <a:ext cx="9243021" cy="412538"/>
          </a:xfrm>
          <a:prstGeom prst="rect">
            <a:avLst/>
          </a:prstGeom>
        </p:spPr>
        <p:txBody>
          <a:bodyPr vert="horz" lIns="0" tIns="45720" rIns="0" bIns="45720" rtlCol="0" anchor="t" anchorCtr="0">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331491" y="692150"/>
            <a:ext cx="9252068" cy="5797550"/>
          </a:xfrm>
          <a:prstGeom prst="rect">
            <a:avLst/>
          </a:prstGeom>
        </p:spPr>
        <p:txBody>
          <a:bodyPr vert="horz" lIns="0" tIns="45720" rIns="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7" name="テキスト ボックス 16">
            <a:extLst>
              <a:ext uri="{FF2B5EF4-FFF2-40B4-BE49-F238E27FC236}">
                <a16:creationId xmlns:a16="http://schemas.microsoft.com/office/drawing/2014/main" id="{F8FAFC4E-F3F0-D947-B10D-2319BEB244D1}"/>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latin typeface="+mn-lt"/>
              </a:rPr>
              <a:pPr algn="r"/>
              <a:t>‹#›</a:t>
            </a:fld>
            <a:endParaRPr kumimoji="0" lang="en-US" altLang="ja-JP" sz="1100" dirty="0">
              <a:solidFill>
                <a:schemeClr val="tx1"/>
              </a:solidFill>
              <a:latin typeface="+mn-lt"/>
              <a:cs typeface="Meiryo UI" pitchFamily="50" charset="-128"/>
            </a:endParaRPr>
          </a:p>
        </p:txBody>
      </p:sp>
    </p:spTree>
    <p:extLst>
      <p:ext uri="{BB962C8B-B14F-4D97-AF65-F5344CB8AC3E}">
        <p14:creationId xmlns:p14="http://schemas.microsoft.com/office/powerpoint/2010/main" val="3960804617"/>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Lst>
  <p:hf hdr="0" ftr="0" dt="0"/>
  <p:txStyles>
    <p:titleStyle>
      <a:lvl1pPr algn="l" defTabSz="609559" rtl="0" eaLnBrk="1" fontAlgn="base" hangingPunct="1">
        <a:spcBef>
          <a:spcPct val="0"/>
        </a:spcBef>
        <a:spcAft>
          <a:spcPct val="0"/>
        </a:spcAft>
        <a:defRPr kumimoji="1" sz="2400" b="1" i="0" kern="1200" spc="0" baseline="0">
          <a:solidFill>
            <a:schemeClr val="tx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p15:clr>
            <a:srgbClr val="F26B43"/>
          </p15:clr>
        </p15:guide>
        <p15:guide id="4" orient="horz" pos="2160">
          <p15:clr>
            <a:srgbClr val="F26B43"/>
          </p15:clr>
        </p15:guide>
        <p15:guide id="6" orient="horz" pos="436">
          <p15:clr>
            <a:srgbClr val="F26B43"/>
          </p15:clr>
        </p15:guide>
        <p15:guide id="7" pos="3121">
          <p15:clr>
            <a:srgbClr val="F26B43"/>
          </p15:clr>
        </p15:guide>
        <p15:guide id="8" pos="6031">
          <p15:clr>
            <a:srgbClr val="F26B43"/>
          </p15:clr>
        </p15:guide>
        <p15:guide id="9" orient="horz" pos="4088">
          <p15:clr>
            <a:srgbClr val="F26B43"/>
          </p15:clr>
        </p15:guide>
        <p15:guide id="10" orient="horz" pos="368">
          <p15:clr>
            <a:srgbClr val="F26B43"/>
          </p15:clr>
        </p15:guide>
        <p15:guide id="11" orient="horz" pos="4269">
          <p15:clr>
            <a:srgbClr val="F26B43"/>
          </p15:clr>
        </p15:guide>
        <p15:guide id="12" orient="horz" pos="41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8.xml"/><Relationship Id="rId1" Type="http://schemas.openxmlformats.org/officeDocument/2006/relationships/tags" Target="../tags/tag2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26.xml"/><Relationship Id="rId5" Type="http://schemas.openxmlformats.org/officeDocument/2006/relationships/image" Target="../media/image8.emf"/><Relationship Id="rId4" Type="http://schemas.openxmlformats.org/officeDocument/2006/relationships/oleObject" Target="../embeddings/oleObject2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692CB-7D99-8D43-9BED-69BAA07D3C2F}"/>
              </a:ext>
            </a:extLst>
          </p:cNvPr>
          <p:cNvGraphicFramePr>
            <a:graphicFrameLocks noChangeAspect="1"/>
          </p:cNvGraphicFramePr>
          <p:nvPr>
            <p:custDataLst>
              <p:tags r:id="rId1"/>
            </p:custDataLst>
            <p:extLst>
              <p:ext uri="{D42A27DB-BD31-4B8C-83A1-F6EECF244321}">
                <p14:modId xmlns:p14="http://schemas.microsoft.com/office/powerpoint/2010/main" val="564507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2" imgH="623" progId="TCLayout.ActiveDocument.1">
                  <p:embed/>
                </p:oleObj>
              </mc:Choice>
              <mc:Fallback>
                <p:oleObj name="think-cell スライド" r:id="rId3" imgW="622" imgH="623" progId="TCLayout.ActiveDocument.1">
                  <p:embed/>
                  <p:pic>
                    <p:nvPicPr>
                      <p:cNvPr id="3" name="think-cell data - do not delete" hidden="1">
                        <a:extLst>
                          <a:ext uri="{FF2B5EF4-FFF2-40B4-BE49-F238E27FC236}">
                            <a16:creationId xmlns:a16="http://schemas.microsoft.com/office/drawing/2014/main" id="{049692CB-7D99-8D43-9BED-69BAA07D3C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a:extLst>
              <a:ext uri="{FF2B5EF4-FFF2-40B4-BE49-F238E27FC236}">
                <a16:creationId xmlns:a16="http://schemas.microsoft.com/office/drawing/2014/main" id="{885B856A-BC88-C3A5-3839-93799E5D151F}"/>
              </a:ext>
            </a:extLst>
          </p:cNvPr>
          <p:cNvSpPr>
            <a:spLocks noGrp="1"/>
          </p:cNvSpPr>
          <p:nvPr>
            <p:ph type="sldNum" sz="quarter" idx="11"/>
          </p:nvPr>
        </p:nvSpPr>
        <p:spPr>
          <a:xfrm>
            <a:off x="417600" y="6564355"/>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3EB1B23-9AF8-425B-BAD7-B9FA00F18833}" type="slidenum">
              <a:rPr kumimoji="0" lang="ja-JP" altLang="en-US" sz="900" b="0" i="0" u="none" strike="noStrike" kern="1200" cap="none" spc="0" normalizeH="0" baseline="0" noProof="0" smtClean="0">
                <a:ln>
                  <a:noFill/>
                </a:ln>
                <a:solidFill>
                  <a:prstClr val="black"/>
                </a:solidFill>
                <a:effectLst/>
                <a:uLnTx/>
                <a:uFillTx/>
                <a:latin typeface="Meiryo UI"/>
                <a:ea typeface="Meiryo UI"/>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ja-JP" altLang="en-US" sz="900" b="0" i="0" u="none" strike="noStrike" kern="1200" cap="none" spc="0" normalizeH="0" baseline="0" noProof="0" dirty="0">
              <a:ln>
                <a:noFill/>
              </a:ln>
              <a:solidFill>
                <a:prstClr val="black"/>
              </a:solidFill>
              <a:effectLst/>
              <a:uLnTx/>
              <a:uFillTx/>
              <a:latin typeface="Meiryo UI"/>
              <a:ea typeface="Meiryo UI"/>
              <a:cs typeface="+mn-cs"/>
              <a:sym typeface="+mn-lt"/>
            </a:endParaRPr>
          </a:p>
        </p:txBody>
      </p:sp>
      <p:sp>
        <p:nvSpPr>
          <p:cNvPr id="7" name="タイトル 6">
            <a:extLst>
              <a:ext uri="{FF2B5EF4-FFF2-40B4-BE49-F238E27FC236}">
                <a16:creationId xmlns:a16="http://schemas.microsoft.com/office/drawing/2014/main" id="{D83807CC-0B21-109D-FB46-B3DFE4E6ACA4}"/>
              </a:ext>
            </a:extLst>
          </p:cNvPr>
          <p:cNvSpPr>
            <a:spLocks noGrp="1"/>
          </p:cNvSpPr>
          <p:nvPr>
            <p:ph type="title"/>
          </p:nvPr>
        </p:nvSpPr>
        <p:spPr>
          <a:xfrm>
            <a:off x="255070" y="176211"/>
            <a:ext cx="9072000" cy="933458"/>
          </a:xfrm>
        </p:spPr>
        <p:txBody>
          <a:bodyPr vert="horz"/>
          <a:lstStyle/>
          <a:p>
            <a:r>
              <a:rPr lang="ja-JP" altLang="en-US" dirty="0">
                <a:latin typeface="Meiryo UI" panose="020B0604030504040204" pitchFamily="50" charset="-128"/>
                <a:ea typeface="Meiryo UI" panose="020B0604030504040204" pitchFamily="50" charset="-128"/>
              </a:rPr>
              <a:t>ものづくりのサプライチェーンにおける製品含有化学物質情報等の</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確実な伝達を可能とする</a:t>
            </a:r>
            <a:r>
              <a:rPr lang="en-US" altLang="ja-JP" dirty="0">
                <a:latin typeface="Meiryo UI" panose="020B0604030504040204" pitchFamily="50" charset="-128"/>
                <a:ea typeface="Meiryo UI" panose="020B0604030504040204" pitchFamily="50" charset="-128"/>
              </a:rPr>
              <a:t>Chemical Management Platform(CMP)</a:t>
            </a:r>
            <a:br>
              <a:rPr lang="en-US" altLang="ja-JP" dirty="0">
                <a:latin typeface="Meiryo UI" panose="020B0604030504040204" pitchFamily="50" charset="-128"/>
                <a:ea typeface="Meiryo UI" panose="020B0604030504040204" pitchFamily="50" charset="-128"/>
              </a:rPr>
            </a:br>
            <a:r>
              <a:rPr lang="en-US" altLang="ja-JP"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みずほリサーチ</a:t>
            </a:r>
            <a:r>
              <a:rPr lang="en-US" altLang="ja-JP" sz="2000" b="1" dirty="0">
                <a:latin typeface="Meiryo UI" panose="020B0604030504040204" pitchFamily="50" charset="-128"/>
                <a:ea typeface="Meiryo UI" panose="020B0604030504040204" pitchFamily="50" charset="-128"/>
              </a:rPr>
              <a:t>&amp;</a:t>
            </a:r>
            <a:r>
              <a:rPr lang="ja-JP" altLang="en-US" sz="2000" b="1" dirty="0">
                <a:latin typeface="Meiryo UI" panose="020B0604030504040204" pitchFamily="50" charset="-128"/>
                <a:ea typeface="Meiryo UI" panose="020B0604030504040204" pitchFamily="50" charset="-128"/>
              </a:rPr>
              <a:t>テクノロジーズ株式会社</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 </a:t>
            </a:r>
            <a:r>
              <a:rPr lang="en-US" altLang="ja-JP" sz="2000" b="1"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1/2)</a:t>
            </a:r>
            <a:endParaRPr kumimoji="1" lang="ja-JP" altLang="en-US" dirty="0">
              <a:latin typeface="Meiryo UI" panose="020B0604030504040204" pitchFamily="50" charset="-128"/>
              <a:ea typeface="Meiryo UI" panose="020B0604030504040204" pitchFamily="50" charset="-128"/>
            </a:endParaRPr>
          </a:p>
        </p:txBody>
      </p:sp>
      <p:grpSp>
        <p:nvGrpSpPr>
          <p:cNvPr id="2" name="グループ化 1">
            <a:extLst>
              <a:ext uri="{FF2B5EF4-FFF2-40B4-BE49-F238E27FC236}">
                <a16:creationId xmlns:a16="http://schemas.microsoft.com/office/drawing/2014/main" id="{E1E13188-187A-0354-E18C-3E8E443ED0BF}"/>
              </a:ext>
            </a:extLst>
          </p:cNvPr>
          <p:cNvGrpSpPr/>
          <p:nvPr/>
        </p:nvGrpSpPr>
        <p:grpSpPr>
          <a:xfrm>
            <a:off x="157743" y="1304232"/>
            <a:ext cx="4680000" cy="2356886"/>
            <a:chOff x="221480" y="742246"/>
            <a:chExt cx="4680000" cy="2356886"/>
          </a:xfrm>
        </p:grpSpPr>
        <p:sp>
          <p:nvSpPr>
            <p:cNvPr id="70" name="正方形/長方形 69">
              <a:extLst>
                <a:ext uri="{FF2B5EF4-FFF2-40B4-BE49-F238E27FC236}">
                  <a16:creationId xmlns:a16="http://schemas.microsoft.com/office/drawing/2014/main" id="{5D100F38-C95B-A0A0-D0A2-94D84E2DC6C5}"/>
                </a:ext>
              </a:extLst>
            </p:cNvPr>
            <p:cNvSpPr/>
            <p:nvPr/>
          </p:nvSpPr>
          <p:spPr>
            <a:xfrm>
              <a:off x="221480" y="1011132"/>
              <a:ext cx="4680000" cy="2088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80975" indent="-180975">
                <a:spcBef>
                  <a:spcPts val="0"/>
                </a:spcBef>
                <a:buFont typeface="Wingdings" panose="05000000000000000000" pitchFamily="2" charset="2"/>
                <a:buChar char="l"/>
              </a:pPr>
              <a:r>
                <a:rPr lang="ja-JP" altLang="en-US" sz="1400" dirty="0">
                  <a:solidFill>
                    <a:schemeClr val="tx1"/>
                  </a:solidFill>
                  <a:latin typeface="Meiryo UI" panose="020B0604030504040204" pitchFamily="50" charset="-128"/>
                  <a:ea typeface="Meiryo UI" panose="020B0604030504040204" pitchFamily="50" charset="-128"/>
                </a:rPr>
                <a:t>電機・電子、自動車それぞれの業界ごとの様式・物質リストでの情報伝達、また電子メールによる依頼・回答が行われており、</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サプライチェーン全体に多大な負荷</a:t>
              </a:r>
              <a:r>
                <a:rPr lang="ja-JP" altLang="en-US" sz="1400" dirty="0">
                  <a:solidFill>
                    <a:schemeClr val="tx1"/>
                  </a:solidFill>
                  <a:latin typeface="Meiryo UI" panose="020B0604030504040204" pitchFamily="50" charset="-128"/>
                  <a:ea typeface="Meiryo UI" panose="020B0604030504040204" pitchFamily="50" charset="-128"/>
                </a:rPr>
                <a:t>がかかっている。</a:t>
              </a:r>
              <a:endParaRPr lang="en-US" altLang="ja-JP" sz="1400" dirty="0">
                <a:solidFill>
                  <a:schemeClr val="tx1"/>
                </a:solidFill>
                <a:latin typeface="Meiryo UI" panose="020B0604030504040204" pitchFamily="50" charset="-128"/>
                <a:ea typeface="Meiryo UI" panose="020B0604030504040204" pitchFamily="50" charset="-128"/>
              </a:endParaRPr>
            </a:p>
            <a:p>
              <a:pPr marL="180975" indent="-180975">
                <a:spcBef>
                  <a:spcPts val="0"/>
                </a:spcBef>
                <a:buFont typeface="Wingdings" panose="05000000000000000000" pitchFamily="2" charset="2"/>
                <a:buChar char="l"/>
              </a:pPr>
              <a:r>
                <a:rPr lang="ja-JP" altLang="en-US" sz="1400" dirty="0">
                  <a:solidFill>
                    <a:schemeClr val="tx1"/>
                  </a:solidFill>
                  <a:latin typeface="Meiryo UI" panose="020B0604030504040204" pitchFamily="50" charset="-128"/>
                  <a:ea typeface="Meiryo UI" panose="020B0604030504040204" pitchFamily="50" charset="-128"/>
                </a:rPr>
                <a:t>各企業の</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営業秘密情報</a:t>
              </a:r>
              <a:r>
                <a:rPr lang="en-US" altLang="ja-JP" sz="1400" b="1" dirty="0">
                  <a:solidFill>
                    <a:schemeClr val="tx1"/>
                  </a:solidFill>
                  <a:uFill>
                    <a:solidFill>
                      <a:srgbClr val="A50021"/>
                    </a:solidFill>
                  </a:uFill>
                  <a:latin typeface="Meiryo UI" panose="020B0604030504040204" pitchFamily="50" charset="-128"/>
                  <a:ea typeface="Meiryo UI" panose="020B0604030504040204" pitchFamily="50" charset="-128"/>
                </a:rPr>
                <a:t>(CBI)</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の保護、開示範囲が制御できない</a:t>
              </a:r>
              <a:r>
                <a:rPr lang="ja-JP" altLang="en-US" sz="1400" dirty="0">
                  <a:solidFill>
                    <a:schemeClr val="tx1"/>
                  </a:solidFill>
                  <a:latin typeface="Meiryo UI" panose="020B0604030504040204" pitchFamily="50" charset="-128"/>
                  <a:ea typeface="Meiryo UI" panose="020B0604030504040204" pitchFamily="50" charset="-128"/>
                </a:rPr>
                <a:t>ため、個別に問合せや化学物質情報の伝達漏れが発生し、</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情報精度が低い</a:t>
              </a:r>
              <a:r>
                <a:rPr lang="ja-JP" altLang="en-US" sz="1400" dirty="0">
                  <a:solidFill>
                    <a:schemeClr val="tx1"/>
                  </a:solidFill>
                  <a:latin typeface="Meiryo UI" panose="020B0604030504040204" pitchFamily="50" charset="-128"/>
                  <a:ea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endParaRPr>
            </a:p>
            <a:p>
              <a:pPr marL="180975" indent="-180975">
                <a:spcBef>
                  <a:spcPts val="0"/>
                </a:spcBef>
                <a:buFont typeface="Wingdings" panose="05000000000000000000" pitchFamily="2" charset="2"/>
                <a:buChar char="l"/>
              </a:pP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サプライチェーンの情報が途切れている</a:t>
              </a:r>
              <a:r>
                <a:rPr lang="ja-JP" altLang="en-US" sz="1400" dirty="0">
                  <a:solidFill>
                    <a:schemeClr val="tx1"/>
                  </a:solidFill>
                  <a:latin typeface="Meiryo UI" panose="020B0604030504040204" pitchFamily="50" charset="-128"/>
                  <a:ea typeface="Meiryo UI" panose="020B0604030504040204" pitchFamily="50" charset="-128"/>
                </a:rPr>
                <a:t>ため、法規制変更や</a:t>
              </a:r>
              <a:r>
                <a:rPr lang="en-US" altLang="ja-JP" sz="1400" dirty="0">
                  <a:solidFill>
                    <a:schemeClr val="tx1"/>
                  </a:solidFill>
                  <a:latin typeface="Meiryo UI" panose="020B0604030504040204" pitchFamily="50" charset="-128"/>
                  <a:ea typeface="Meiryo UI" panose="020B0604030504040204" pitchFamily="50" charset="-128"/>
                </a:rPr>
                <a:t>4M</a:t>
              </a:r>
              <a:r>
                <a:rPr lang="ja-JP" altLang="en-US" sz="1400" dirty="0">
                  <a:solidFill>
                    <a:schemeClr val="tx1"/>
                  </a:solidFill>
                  <a:latin typeface="Meiryo UI" panose="020B0604030504040204" pitchFamily="50" charset="-128"/>
                  <a:ea typeface="Meiryo UI" panose="020B0604030504040204" pitchFamily="50" charset="-128"/>
                </a:rPr>
                <a:t>変更に対応した情報が伝達されず、情報のトレースもできない。</a:t>
              </a:r>
            </a:p>
          </p:txBody>
        </p:sp>
        <p:sp>
          <p:nvSpPr>
            <p:cNvPr id="71" name="正方形/長方形 70">
              <a:extLst>
                <a:ext uri="{FF2B5EF4-FFF2-40B4-BE49-F238E27FC236}">
                  <a16:creationId xmlns:a16="http://schemas.microsoft.com/office/drawing/2014/main" id="{096ADDED-AAAD-0B73-D9ED-793DB4D4FBE5}"/>
                </a:ext>
              </a:extLst>
            </p:cNvPr>
            <p:cNvSpPr/>
            <p:nvPr/>
          </p:nvSpPr>
          <p:spPr>
            <a:xfrm>
              <a:off x="221480" y="742246"/>
              <a:ext cx="4680000" cy="266339"/>
            </a:xfrm>
            <a:prstGeom prst="rect">
              <a:avLst/>
            </a:prstGeom>
            <a:solidFill>
              <a:schemeClr val="bg1">
                <a:lumMod val="6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spcBef>
                  <a:spcPts val="0"/>
                </a:spcBef>
              </a:pPr>
              <a:r>
                <a:rPr lang="ja-JP" altLang="en-US" sz="1400" b="1" dirty="0">
                  <a:solidFill>
                    <a:schemeClr val="bg1"/>
                  </a:solidFill>
                  <a:latin typeface="Meiryo UI" panose="020B0604030504040204" pitchFamily="50" charset="-128"/>
                  <a:ea typeface="Meiryo UI" panose="020B0604030504040204" pitchFamily="50" charset="-128"/>
                </a:rPr>
                <a:t>現在の課題（ペインポイント）</a:t>
              </a:r>
            </a:p>
          </p:txBody>
        </p:sp>
      </p:grpSp>
      <p:grpSp>
        <p:nvGrpSpPr>
          <p:cNvPr id="72" name="グループ化 71">
            <a:extLst>
              <a:ext uri="{FF2B5EF4-FFF2-40B4-BE49-F238E27FC236}">
                <a16:creationId xmlns:a16="http://schemas.microsoft.com/office/drawing/2014/main" id="{C4DBE9FD-362D-B630-1D10-B59809A33991}"/>
              </a:ext>
            </a:extLst>
          </p:cNvPr>
          <p:cNvGrpSpPr/>
          <p:nvPr/>
        </p:nvGrpSpPr>
        <p:grpSpPr>
          <a:xfrm>
            <a:off x="5198240" y="1304232"/>
            <a:ext cx="4561905" cy="2356886"/>
            <a:chOff x="4956610" y="742246"/>
            <a:chExt cx="4680000" cy="2356886"/>
          </a:xfrm>
        </p:grpSpPr>
        <p:sp>
          <p:nvSpPr>
            <p:cNvPr id="73" name="正方形/長方形 72">
              <a:extLst>
                <a:ext uri="{FF2B5EF4-FFF2-40B4-BE49-F238E27FC236}">
                  <a16:creationId xmlns:a16="http://schemas.microsoft.com/office/drawing/2014/main" id="{776B2226-6930-A688-531D-FC6F5F3A9AC3}"/>
                </a:ext>
              </a:extLst>
            </p:cNvPr>
            <p:cNvSpPr/>
            <p:nvPr/>
          </p:nvSpPr>
          <p:spPr>
            <a:xfrm>
              <a:off x="4956610" y="1011132"/>
              <a:ext cx="4680000" cy="2088000"/>
            </a:xfrm>
            <a:prstGeom prst="rect">
              <a:avLst/>
            </a:prstGeom>
            <a:solidFill>
              <a:schemeClr val="accent1">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80975" indent="-180975">
                <a:spcBef>
                  <a:spcPts val="0"/>
                </a:spcBef>
                <a:buFont typeface="Wingdings" panose="05000000000000000000" pitchFamily="2" charset="2"/>
                <a:buChar char="l"/>
              </a:pPr>
              <a:r>
                <a:rPr lang="ja-JP" altLang="en-US" sz="1400" dirty="0">
                  <a:solidFill>
                    <a:schemeClr val="tx1"/>
                  </a:solidFill>
                  <a:latin typeface="Meiryo UI" panose="020B0604030504040204" pitchFamily="50" charset="-128"/>
                  <a:ea typeface="Meiryo UI" panose="020B0604030504040204" pitchFamily="50" charset="-128"/>
                </a:rPr>
                <a:t>ブロックチェーンの</a:t>
              </a:r>
              <a:r>
                <a:rPr lang="en-US" altLang="ja-JP" sz="1400" dirty="0">
                  <a:solidFill>
                    <a:schemeClr val="tx1"/>
                  </a:solidFill>
                  <a:latin typeface="Meiryo UI" panose="020B0604030504040204" pitchFamily="50" charset="-128"/>
                  <a:ea typeface="Meiryo UI" panose="020B0604030504040204" pitchFamily="50" charset="-128"/>
                </a:rPr>
                <a:t>B2B</a:t>
              </a:r>
              <a:r>
                <a:rPr lang="ja-JP" altLang="en-US" sz="1400" dirty="0">
                  <a:solidFill>
                    <a:schemeClr val="tx1"/>
                  </a:solidFill>
                  <a:latin typeface="Meiryo UI" panose="020B0604030504040204" pitchFamily="50" charset="-128"/>
                  <a:ea typeface="Meiryo UI" panose="020B0604030504040204" pitchFamily="50" charset="-128"/>
                </a:rPr>
                <a:t>間での</a:t>
              </a:r>
              <a:r>
                <a:rPr lang="en-US" altLang="ja-JP" sz="1400" dirty="0">
                  <a:solidFill>
                    <a:schemeClr val="tx1"/>
                  </a:solidFill>
                  <a:latin typeface="Meiryo UI" panose="020B0604030504040204" pitchFamily="50" charset="-128"/>
                  <a:ea typeface="Meiryo UI" panose="020B0604030504040204" pitchFamily="50" charset="-128"/>
                </a:rPr>
                <a:t>Trust</a:t>
              </a:r>
              <a:r>
                <a:rPr lang="ja-JP" altLang="en-US" sz="1400" dirty="0">
                  <a:solidFill>
                    <a:schemeClr val="tx1"/>
                  </a:solidFill>
                  <a:latin typeface="Meiryo UI" panose="020B0604030504040204" pitchFamily="50" charset="-128"/>
                  <a:ea typeface="Meiryo UI" panose="020B0604030504040204" pitchFamily="50" charset="-128"/>
                </a:rPr>
                <a:t>向上や</a:t>
              </a:r>
              <a:r>
                <a:rPr lang="en-US" altLang="ja-JP" sz="1400" dirty="0">
                  <a:solidFill>
                    <a:schemeClr val="tx1"/>
                  </a:solidFill>
                  <a:latin typeface="Meiryo UI" panose="020B0604030504040204" pitchFamily="50" charset="-128"/>
                  <a:ea typeface="Meiryo UI" panose="020B0604030504040204" pitchFamily="50" charset="-128"/>
                </a:rPr>
                <a:t>Identity</a:t>
              </a:r>
              <a:r>
                <a:rPr lang="ja-JP" altLang="en-US" sz="1400" dirty="0">
                  <a:solidFill>
                    <a:schemeClr val="tx1"/>
                  </a:solidFill>
                  <a:latin typeface="Meiryo UI" panose="020B0604030504040204" pitchFamily="50" charset="-128"/>
                  <a:ea typeface="Meiryo UI" panose="020B0604030504040204" pitchFamily="50" charset="-128"/>
                </a:rPr>
                <a:t>の管理により、</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情報基盤を活用した業界共通の製品含有化学物質管理のための情報交換</a:t>
              </a:r>
              <a:r>
                <a:rPr lang="ja-JP" altLang="en-US" sz="1400" dirty="0">
                  <a:solidFill>
                    <a:schemeClr val="tx1"/>
                  </a:solidFill>
                  <a:latin typeface="Meiryo UI" panose="020B0604030504040204" pitchFamily="50" charset="-128"/>
                  <a:ea typeface="Meiryo UI" panose="020B0604030504040204" pitchFamily="50" charset="-128"/>
                </a:rPr>
                <a:t>が実現できる。</a:t>
              </a:r>
            </a:p>
            <a:p>
              <a:pPr marL="180975" indent="-180975">
                <a:spcBef>
                  <a:spcPts val="0"/>
                </a:spcBef>
                <a:buFont typeface="Wingdings" panose="05000000000000000000" pitchFamily="2" charset="2"/>
                <a:buChar char="l"/>
              </a:pPr>
              <a:r>
                <a:rPr lang="en-US" altLang="ja-JP" sz="1400" dirty="0">
                  <a:solidFill>
                    <a:schemeClr val="tx1"/>
                  </a:solidFill>
                  <a:latin typeface="Meiryo UI" panose="020B0604030504040204" pitchFamily="50" charset="-128"/>
                  <a:ea typeface="Meiryo UI" panose="020B0604030504040204" pitchFamily="50" charset="-128"/>
                </a:rPr>
                <a:t>B2B</a:t>
              </a:r>
              <a:r>
                <a:rPr lang="ja-JP" altLang="en-US" sz="1400" dirty="0">
                  <a:solidFill>
                    <a:schemeClr val="tx1"/>
                  </a:solidFill>
                  <a:latin typeface="Meiryo UI" panose="020B0604030504040204" pitchFamily="50" charset="-128"/>
                  <a:ea typeface="Meiryo UI" panose="020B0604030504040204" pitchFamily="50" charset="-128"/>
                </a:rPr>
                <a:t>間をアイデンティティグラフとして構成し、製品含有化学物質情報を検証可能なデータとして</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サプライチェーン全体の</a:t>
              </a:r>
              <a:r>
                <a:rPr lang="en-US" altLang="ja-JP" sz="1400" b="1" dirty="0">
                  <a:solidFill>
                    <a:schemeClr val="tx1"/>
                  </a:solidFill>
                  <a:uFill>
                    <a:solidFill>
                      <a:srgbClr val="A50021"/>
                    </a:solidFill>
                  </a:uFill>
                  <a:latin typeface="Meiryo UI" panose="020B0604030504040204" pitchFamily="50" charset="-128"/>
                  <a:ea typeface="Meiryo UI" panose="020B0604030504040204" pitchFamily="50" charset="-128"/>
                </a:rPr>
                <a:t>CBI</a:t>
              </a:r>
              <a:r>
                <a:rPr lang="ja-JP" altLang="en-US" sz="1400" b="1" dirty="0">
                  <a:solidFill>
                    <a:schemeClr val="tx1"/>
                  </a:solidFill>
                  <a:uFill>
                    <a:solidFill>
                      <a:srgbClr val="A50021"/>
                    </a:solidFill>
                  </a:uFill>
                  <a:latin typeface="Meiryo UI" panose="020B0604030504040204" pitchFamily="50" charset="-128"/>
                  <a:ea typeface="Meiryo UI" panose="020B0604030504040204" pitchFamily="50" charset="-128"/>
                </a:rPr>
                <a:t>保護や開示範囲の制御が実現</a:t>
              </a:r>
              <a:r>
                <a:rPr lang="ja-JP" altLang="en-US" sz="1400" dirty="0">
                  <a:solidFill>
                    <a:schemeClr val="tx1"/>
                  </a:solidFill>
                  <a:latin typeface="Meiryo UI" panose="020B0604030504040204" pitchFamily="50" charset="-128"/>
                  <a:ea typeface="Meiryo UI" panose="020B0604030504040204" pitchFamily="50" charset="-128"/>
                </a:rPr>
                <a:t>できる。</a:t>
              </a:r>
            </a:p>
            <a:p>
              <a:pPr marL="180975" indent="-180975">
                <a:spcBef>
                  <a:spcPts val="0"/>
                </a:spcBef>
                <a:buFont typeface="Wingdings" panose="05000000000000000000" pitchFamily="2" charset="2"/>
                <a:buChar char="l"/>
              </a:pPr>
              <a:r>
                <a:rPr lang="ja-JP" altLang="en-US" sz="1400" dirty="0">
                  <a:solidFill>
                    <a:schemeClr val="tx1"/>
                  </a:solidFill>
                  <a:latin typeface="Meiryo UI" panose="020B0604030504040204" pitchFamily="50" charset="-128"/>
                  <a:ea typeface="Meiryo UI" panose="020B0604030504040204" pitchFamily="50" charset="-128"/>
                </a:rPr>
                <a:t>各社が利用する共通物質リストや</a:t>
              </a:r>
              <a:r>
                <a:rPr lang="en-US" altLang="ja-JP" sz="1400" dirty="0">
                  <a:solidFill>
                    <a:schemeClr val="tx1"/>
                  </a:solidFill>
                  <a:latin typeface="Meiryo UI" panose="020B0604030504040204" pitchFamily="50" charset="-128"/>
                  <a:ea typeface="Meiryo UI" panose="020B0604030504040204" pitchFamily="50" charset="-128"/>
                </a:rPr>
                <a:t>API</a:t>
              </a:r>
              <a:r>
                <a:rPr lang="ja-JP" altLang="en-US" sz="1400" dirty="0">
                  <a:solidFill>
                    <a:schemeClr val="tx1"/>
                  </a:solidFill>
                  <a:latin typeface="Meiryo UI" panose="020B0604030504040204" pitchFamily="50" charset="-128"/>
                  <a:ea typeface="Meiryo UI" panose="020B0604030504040204" pitchFamily="50" charset="-128"/>
                </a:rPr>
                <a:t>は</a:t>
              </a:r>
              <a:r>
                <a:rPr lang="en-US" altLang="ja-JP" sz="1400" dirty="0">
                  <a:solidFill>
                    <a:schemeClr val="tx1"/>
                  </a:solidFill>
                  <a:latin typeface="Meiryo UI" panose="020B0604030504040204" pitchFamily="50" charset="-128"/>
                  <a:ea typeface="Meiryo UI" panose="020B0604030504040204" pitchFamily="50" charset="-128"/>
                </a:rPr>
                <a:t>CMP</a:t>
              </a:r>
              <a:r>
                <a:rPr lang="ja-JP" altLang="en-US" sz="1400" dirty="0">
                  <a:solidFill>
                    <a:schemeClr val="tx1"/>
                  </a:solidFill>
                  <a:latin typeface="Meiryo UI" panose="020B0604030504040204" pitchFamily="50" charset="-128"/>
                  <a:ea typeface="Meiryo UI" panose="020B0604030504040204" pitchFamily="50" charset="-128"/>
                </a:rPr>
                <a:t>コンソーシアムが運用し、全体のガバナンスを担うとともに各社やベンダーの参画しやすいエコシステムを構築する。</a:t>
              </a:r>
            </a:p>
          </p:txBody>
        </p:sp>
        <p:sp>
          <p:nvSpPr>
            <p:cNvPr id="74" name="正方形/長方形 73">
              <a:extLst>
                <a:ext uri="{FF2B5EF4-FFF2-40B4-BE49-F238E27FC236}">
                  <a16:creationId xmlns:a16="http://schemas.microsoft.com/office/drawing/2014/main" id="{27129C80-17AC-3AD3-C752-C3467D350BEC}"/>
                </a:ext>
              </a:extLst>
            </p:cNvPr>
            <p:cNvSpPr/>
            <p:nvPr/>
          </p:nvSpPr>
          <p:spPr>
            <a:xfrm>
              <a:off x="4956610" y="742246"/>
              <a:ext cx="4680000" cy="266339"/>
            </a:xfrm>
            <a:prstGeom prst="rect">
              <a:avLst/>
            </a:prstGeom>
            <a:solidFill>
              <a:schemeClr val="accent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spcBef>
                  <a:spcPts val="0"/>
                </a:spcBef>
              </a:pPr>
              <a:r>
                <a:rPr lang="en-US" altLang="ja-JP" sz="1400" b="1" dirty="0">
                  <a:solidFill>
                    <a:schemeClr val="bg1"/>
                  </a:solidFill>
                  <a:latin typeface="Meiryo UI" panose="020B0604030504040204" pitchFamily="50" charset="-128"/>
                  <a:ea typeface="Meiryo UI" panose="020B0604030504040204" pitchFamily="50" charset="-128"/>
                </a:rPr>
                <a:t>Trusted</a:t>
              </a:r>
              <a:r>
                <a:rPr lang="ja-JP" altLang="en-US" sz="1400" b="1" dirty="0">
                  <a:solidFill>
                    <a:schemeClr val="bg1"/>
                  </a:solidFill>
                  <a:latin typeface="Meiryo UI" panose="020B0604030504040204" pitchFamily="50" charset="-128"/>
                  <a:ea typeface="Meiryo UI" panose="020B0604030504040204" pitchFamily="50" charset="-128"/>
                </a:rPr>
                <a:t> </a:t>
              </a:r>
              <a:r>
                <a:rPr lang="en-US" altLang="ja-JP" sz="1400" b="1" dirty="0">
                  <a:solidFill>
                    <a:schemeClr val="bg1"/>
                  </a:solidFill>
                  <a:latin typeface="Meiryo UI" panose="020B0604030504040204" pitchFamily="50" charset="-128"/>
                  <a:ea typeface="Meiryo UI" panose="020B0604030504040204" pitchFamily="50" charset="-128"/>
                </a:rPr>
                <a:t>Web</a:t>
              </a:r>
              <a:r>
                <a:rPr lang="ja-JP" altLang="en-US" sz="1400" b="1" dirty="0">
                  <a:solidFill>
                    <a:schemeClr val="bg1"/>
                  </a:solidFill>
                  <a:latin typeface="Meiryo UI" panose="020B0604030504040204" pitchFamily="50" charset="-128"/>
                  <a:ea typeface="Meiryo UI" panose="020B0604030504040204" pitchFamily="50" charset="-128"/>
                </a:rPr>
                <a:t>の実現により解決する内容</a:t>
              </a:r>
            </a:p>
          </p:txBody>
        </p:sp>
      </p:grpSp>
      <p:pic>
        <p:nvPicPr>
          <p:cNvPr id="75" name="図 74">
            <a:extLst>
              <a:ext uri="{FF2B5EF4-FFF2-40B4-BE49-F238E27FC236}">
                <a16:creationId xmlns:a16="http://schemas.microsoft.com/office/drawing/2014/main" id="{337B27AC-8CCF-1B23-DDB7-DDC3AADA698F}"/>
              </a:ext>
            </a:extLst>
          </p:cNvPr>
          <p:cNvPicPr>
            <a:picLocks noChangeAspect="1"/>
          </p:cNvPicPr>
          <p:nvPr/>
        </p:nvPicPr>
        <p:blipFill>
          <a:blip r:embed="rId5"/>
          <a:stretch>
            <a:fillRect/>
          </a:stretch>
        </p:blipFill>
        <p:spPr>
          <a:xfrm>
            <a:off x="150274" y="3745980"/>
            <a:ext cx="4703358" cy="2404545"/>
          </a:xfrm>
          <a:prstGeom prst="rect">
            <a:avLst/>
          </a:prstGeom>
        </p:spPr>
      </p:pic>
      <p:pic>
        <p:nvPicPr>
          <p:cNvPr id="76" name="図 75">
            <a:extLst>
              <a:ext uri="{FF2B5EF4-FFF2-40B4-BE49-F238E27FC236}">
                <a16:creationId xmlns:a16="http://schemas.microsoft.com/office/drawing/2014/main" id="{6C4D59EA-5B5B-9F68-C546-8FF62B8DA2C6}"/>
              </a:ext>
            </a:extLst>
          </p:cNvPr>
          <p:cNvPicPr>
            <a:picLocks noChangeAspect="1"/>
          </p:cNvPicPr>
          <p:nvPr/>
        </p:nvPicPr>
        <p:blipFill>
          <a:blip r:embed="rId6"/>
          <a:stretch>
            <a:fillRect/>
          </a:stretch>
        </p:blipFill>
        <p:spPr>
          <a:xfrm>
            <a:off x="5196685" y="3741511"/>
            <a:ext cx="4565014" cy="2443061"/>
          </a:xfrm>
          <a:prstGeom prst="rect">
            <a:avLst/>
          </a:prstGeom>
        </p:spPr>
      </p:pic>
      <p:sp>
        <p:nvSpPr>
          <p:cNvPr id="77" name="矢印: 右 76">
            <a:extLst>
              <a:ext uri="{FF2B5EF4-FFF2-40B4-BE49-F238E27FC236}">
                <a16:creationId xmlns:a16="http://schemas.microsoft.com/office/drawing/2014/main" id="{67261A49-A4C7-0A65-A604-FDB8B39302D6}"/>
              </a:ext>
            </a:extLst>
          </p:cNvPr>
          <p:cNvSpPr/>
          <p:nvPr/>
        </p:nvSpPr>
        <p:spPr bwMode="gray">
          <a:xfrm>
            <a:off x="4902236" y="1914132"/>
            <a:ext cx="248056" cy="3623552"/>
          </a:xfrm>
          <a:prstGeom prst="rightArrow">
            <a:avLst>
              <a:gd name="adj1" fmla="val 50375"/>
              <a:gd name="adj2" fmla="val 100000"/>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dirty="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1081640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ED9A219-FA54-7B0A-7236-5564654D36EA}"/>
              </a:ext>
            </a:extLst>
          </p:cNvPr>
          <p:cNvGraphicFramePr>
            <a:graphicFrameLocks noChangeAspect="1"/>
          </p:cNvGraphicFramePr>
          <p:nvPr>
            <p:custDataLst>
              <p:tags r:id="rId1"/>
            </p:custDataLst>
            <p:extLst>
              <p:ext uri="{D42A27DB-BD31-4B8C-83A1-F6EECF244321}">
                <p14:modId xmlns:p14="http://schemas.microsoft.com/office/powerpoint/2010/main" val="1223823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622" imgH="623" progId="TCLayout.ActiveDocument.1">
                  <p:embed/>
                </p:oleObj>
              </mc:Choice>
              <mc:Fallback>
                <p:oleObj name="think-cell スライド" r:id="rId4" imgW="622" imgH="623" progId="TCLayout.ActiveDocument.1">
                  <p:embed/>
                  <p:pic>
                    <p:nvPicPr>
                      <p:cNvPr id="7" name="think-cell data - do not delete" hidden="1">
                        <a:extLst>
                          <a:ext uri="{FF2B5EF4-FFF2-40B4-BE49-F238E27FC236}">
                            <a16:creationId xmlns:a16="http://schemas.microsoft.com/office/drawing/2014/main" id="{0ED9A219-FA54-7B0A-7236-5564654D36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正方形/長方形 3"/>
          <p:cNvSpPr/>
          <p:nvPr/>
        </p:nvSpPr>
        <p:spPr>
          <a:xfrm>
            <a:off x="168577" y="1074751"/>
            <a:ext cx="1199300" cy="2463774"/>
          </a:xfrm>
          <a:prstGeom prst="rect">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検証を行う</a:t>
            </a:r>
            <a:endParaRPr kumimoji="1" lang="en-US" altLang="ja-JP"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データ</a:t>
            </a:r>
            <a:endParaRPr kumimoji="1" lang="en-US" altLang="ja-JP"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graphicFrame>
        <p:nvGraphicFramePr>
          <p:cNvPr id="8" name="表 7"/>
          <p:cNvGraphicFramePr>
            <a:graphicFrameLocks noGrp="1"/>
          </p:cNvGraphicFramePr>
          <p:nvPr>
            <p:extLst>
              <p:ext uri="{D42A27DB-BD31-4B8C-83A1-F6EECF244321}">
                <p14:modId xmlns:p14="http://schemas.microsoft.com/office/powerpoint/2010/main" val="3469738409"/>
              </p:ext>
            </p:extLst>
          </p:nvPr>
        </p:nvGraphicFramePr>
        <p:xfrm>
          <a:off x="1463040" y="1076546"/>
          <a:ext cx="8269991" cy="2443680"/>
        </p:xfrm>
        <a:graphic>
          <a:graphicData uri="http://schemas.openxmlformats.org/drawingml/2006/table">
            <a:tbl>
              <a:tblPr firstRow="1" bandRow="1">
                <a:tableStyleId>{5C22544A-7EE6-4342-B048-85BDC9FD1C3A}</a:tableStyleId>
              </a:tblPr>
              <a:tblGrid>
                <a:gridCol w="1791729">
                  <a:extLst>
                    <a:ext uri="{9D8B030D-6E8A-4147-A177-3AD203B41FA5}">
                      <a16:colId xmlns:a16="http://schemas.microsoft.com/office/drawing/2014/main" val="1412684183"/>
                    </a:ext>
                  </a:extLst>
                </a:gridCol>
                <a:gridCol w="1624116">
                  <a:extLst>
                    <a:ext uri="{9D8B030D-6E8A-4147-A177-3AD203B41FA5}">
                      <a16:colId xmlns:a16="http://schemas.microsoft.com/office/drawing/2014/main" val="3345453656"/>
                    </a:ext>
                  </a:extLst>
                </a:gridCol>
                <a:gridCol w="3520596">
                  <a:extLst>
                    <a:ext uri="{9D8B030D-6E8A-4147-A177-3AD203B41FA5}">
                      <a16:colId xmlns:a16="http://schemas.microsoft.com/office/drawing/2014/main" val="3577434317"/>
                    </a:ext>
                  </a:extLst>
                </a:gridCol>
                <a:gridCol w="1333550">
                  <a:extLst>
                    <a:ext uri="{9D8B030D-6E8A-4147-A177-3AD203B41FA5}">
                      <a16:colId xmlns:a16="http://schemas.microsoft.com/office/drawing/2014/main" val="1081547598"/>
                    </a:ext>
                  </a:extLst>
                </a:gridCol>
              </a:tblGrid>
              <a:tr h="0">
                <a:tc>
                  <a:txBody>
                    <a:bodyPr/>
                    <a:lstStyle/>
                    <a:p>
                      <a:pPr algn="ctr"/>
                      <a:r>
                        <a:rPr kumimoji="1" lang="ja-JP" altLang="en-US" sz="1200" b="0" dirty="0">
                          <a:solidFill>
                            <a:schemeClr val="tx1"/>
                          </a:solidFill>
                        </a:rPr>
                        <a:t>要検証の課題</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200" b="0" dirty="0">
                          <a:solidFill>
                            <a:schemeClr val="tx1"/>
                          </a:solidFill>
                        </a:rPr>
                        <a:t>検証対象</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200" b="0" dirty="0">
                          <a:solidFill>
                            <a:schemeClr val="tx1"/>
                          </a:solidFill>
                        </a:rPr>
                        <a:t>検証方法</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200" b="0" dirty="0">
                          <a:solidFill>
                            <a:schemeClr val="tx1"/>
                          </a:solidFill>
                        </a:rPr>
                        <a:t>検証者</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23289452"/>
                  </a:ext>
                </a:extLst>
              </a:tr>
              <a:tr h="0">
                <a:tc>
                  <a:txBody>
                    <a:bodyPr/>
                    <a:lstStyle/>
                    <a:p>
                      <a:pPr algn="l">
                        <a:lnSpc>
                          <a:spcPct val="100000"/>
                        </a:lnSpc>
                      </a:pPr>
                      <a:r>
                        <a:rPr lang="ja-JP" sz="1200" kern="0" dirty="0">
                          <a:effectLst/>
                          <a:latin typeface="+mn-ea"/>
                          <a:ea typeface="+mn-ea"/>
                        </a:rPr>
                        <a:t>サプライチェーンの</a:t>
                      </a:r>
                      <a:r>
                        <a:rPr lang="en-US" sz="1200" kern="0" dirty="0">
                          <a:effectLst/>
                          <a:latin typeface="+mn-ea"/>
                          <a:ea typeface="+mn-ea"/>
                        </a:rPr>
                        <a:t>B2B</a:t>
                      </a:r>
                      <a:r>
                        <a:rPr lang="en-US" altLang="ja-JP" sz="1200" kern="0" dirty="0">
                          <a:effectLst/>
                          <a:latin typeface="+mn-ea"/>
                          <a:ea typeface="+mn-ea"/>
                        </a:rPr>
                        <a:t>(</a:t>
                      </a:r>
                      <a:r>
                        <a:rPr lang="ja-JP" sz="1200" kern="0" dirty="0">
                          <a:effectLst/>
                          <a:latin typeface="+mn-ea"/>
                          <a:ea typeface="+mn-ea"/>
                        </a:rPr>
                        <a:t>企業・製品連鎖</a:t>
                      </a:r>
                      <a:r>
                        <a:rPr lang="en-US" altLang="ja-JP" sz="1200" kern="0" dirty="0">
                          <a:effectLst/>
                          <a:latin typeface="+mn-ea"/>
                          <a:ea typeface="+mn-ea"/>
                        </a:rPr>
                        <a:t>)</a:t>
                      </a:r>
                      <a:r>
                        <a:rPr lang="ja-JP" sz="1200" kern="0" dirty="0">
                          <a:effectLst/>
                          <a:latin typeface="+mn-ea"/>
                          <a:ea typeface="+mn-ea"/>
                        </a:rPr>
                        <a:t>の検証</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取引関係、依頼・回答の事実</a:t>
                      </a:r>
                      <a:r>
                        <a:rPr lang="en-US" altLang="ja-JP" sz="1200" kern="0" dirty="0">
                          <a:effectLst/>
                          <a:latin typeface="+mn-ea"/>
                          <a:ea typeface="+mn-ea"/>
                        </a:rPr>
                        <a:t>(</a:t>
                      </a:r>
                      <a:r>
                        <a:rPr lang="ja-JP" sz="1200" kern="0" dirty="0">
                          <a:effectLst/>
                          <a:latin typeface="+mn-ea"/>
                          <a:ea typeface="+mn-ea"/>
                        </a:rPr>
                        <a:t>各企業</a:t>
                      </a:r>
                      <a:r>
                        <a:rPr lang="en-US" altLang="ja-JP" sz="1200" kern="0" dirty="0">
                          <a:effectLst/>
                          <a:latin typeface="+mn-ea"/>
                          <a:ea typeface="+mn-ea"/>
                        </a:rPr>
                        <a:t>)</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en-US" sz="1200" kern="0" dirty="0">
                          <a:effectLst/>
                          <a:latin typeface="+mn-ea"/>
                          <a:ea typeface="+mn-ea"/>
                        </a:rPr>
                        <a:t>B2B</a:t>
                      </a:r>
                      <a:r>
                        <a:rPr lang="ja-JP" sz="1200" kern="0" dirty="0">
                          <a:effectLst/>
                          <a:latin typeface="+mn-ea"/>
                          <a:ea typeface="+mn-ea"/>
                        </a:rPr>
                        <a:t>間の取引認証</a:t>
                      </a:r>
                      <a:r>
                        <a:rPr lang="ja-JP" altLang="en-US" sz="1200" kern="0" dirty="0">
                          <a:effectLst/>
                          <a:latin typeface="+mn-ea"/>
                          <a:ea typeface="+mn-ea"/>
                        </a:rPr>
                        <a:t>、</a:t>
                      </a:r>
                      <a:r>
                        <a:rPr lang="ja-JP" sz="1200" kern="0" dirty="0">
                          <a:effectLst/>
                          <a:latin typeface="+mn-ea"/>
                          <a:ea typeface="+mn-ea"/>
                        </a:rPr>
                        <a:t>調査依頼と承諾確認</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ja-JP" sz="1200" kern="0" dirty="0">
                          <a:effectLst/>
                          <a:latin typeface="+mn-ea"/>
                          <a:ea typeface="+mn-ea"/>
                        </a:rPr>
                        <a:t>運営事業者</a:t>
                      </a:r>
                      <a:endParaRPr kumimoji="1" lang="ja-JP" altLang="en-US" sz="12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8424116"/>
                  </a:ext>
                </a:extLst>
              </a:tr>
              <a:tr h="0">
                <a:tc>
                  <a:txBody>
                    <a:bodyPr/>
                    <a:lstStyle/>
                    <a:p>
                      <a:pPr algn="l">
                        <a:lnSpc>
                          <a:spcPct val="100000"/>
                        </a:lnSpc>
                      </a:pPr>
                      <a:r>
                        <a:rPr lang="ja-JP" sz="1200" kern="0" dirty="0">
                          <a:effectLst/>
                          <a:latin typeface="+mn-ea"/>
                          <a:ea typeface="+mn-ea"/>
                        </a:rPr>
                        <a:t>製品の組成</a:t>
                      </a:r>
                      <a:r>
                        <a:rPr lang="en-US" altLang="ja-JP" sz="1200" kern="0" dirty="0">
                          <a:effectLst/>
                          <a:latin typeface="+mn-ea"/>
                          <a:ea typeface="+mn-ea"/>
                        </a:rPr>
                        <a:t>(</a:t>
                      </a:r>
                      <a:r>
                        <a:rPr lang="ja-JP" sz="1200" kern="0" dirty="0">
                          <a:effectLst/>
                          <a:latin typeface="+mn-ea"/>
                          <a:ea typeface="+mn-ea"/>
                        </a:rPr>
                        <a:t>含有化学物質</a:t>
                      </a:r>
                      <a:r>
                        <a:rPr lang="en-US" altLang="ja-JP" sz="1200" kern="0" dirty="0">
                          <a:effectLst/>
                          <a:latin typeface="+mn-ea"/>
                          <a:ea typeface="+mn-ea"/>
                        </a:rPr>
                        <a:t>)</a:t>
                      </a:r>
                      <a:r>
                        <a:rPr lang="ja-JP" sz="1200" kern="0" dirty="0">
                          <a:effectLst/>
                          <a:latin typeface="+mn-ea"/>
                          <a:ea typeface="+mn-ea"/>
                        </a:rPr>
                        <a:t>の秘匿と伝達の検証</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化学物質データ</a:t>
                      </a:r>
                      <a:r>
                        <a:rPr lang="en-US" altLang="ja-JP" sz="1200" kern="0" dirty="0">
                          <a:effectLst/>
                          <a:latin typeface="+mn-ea"/>
                          <a:ea typeface="+mn-ea"/>
                        </a:rPr>
                        <a:t>(</a:t>
                      </a:r>
                      <a:r>
                        <a:rPr lang="ja-JP" sz="1200" kern="0" dirty="0">
                          <a:effectLst/>
                          <a:latin typeface="+mn-ea"/>
                          <a:ea typeface="+mn-ea"/>
                        </a:rPr>
                        <a:t>化学品事業者</a:t>
                      </a:r>
                      <a:r>
                        <a:rPr lang="en-US" altLang="ja-JP" sz="1200" kern="0" dirty="0">
                          <a:effectLst/>
                          <a:latin typeface="+mn-ea"/>
                          <a:ea typeface="+mn-ea"/>
                        </a:rPr>
                        <a:t>)</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秘匿物質が企業内ノードから出ないこと</a:t>
                      </a:r>
                      <a:r>
                        <a:rPr lang="ja-JP" altLang="en-US" sz="1200" kern="0" dirty="0">
                          <a:effectLst/>
                          <a:latin typeface="+mn-ea"/>
                          <a:ea typeface="+mn-ea"/>
                        </a:rPr>
                        <a:t>。</a:t>
                      </a:r>
                      <a:r>
                        <a:rPr lang="ja-JP" sz="1200" kern="0" dirty="0">
                          <a:effectLst/>
                          <a:latin typeface="+mn-ea"/>
                          <a:ea typeface="+mn-ea"/>
                        </a:rPr>
                        <a:t>伝達物質が企業間で伝達されること</a:t>
                      </a:r>
                      <a:r>
                        <a:rPr lang="ja-JP" altLang="en-US" sz="1200" kern="0" dirty="0">
                          <a:effectLst/>
                          <a:latin typeface="+mn-ea"/>
                          <a:ea typeface="+mn-ea"/>
                        </a:rPr>
                        <a:t>。</a:t>
                      </a:r>
                      <a:r>
                        <a:rPr lang="ja-JP" sz="1200" kern="0" dirty="0">
                          <a:effectLst/>
                          <a:latin typeface="+mn-ea"/>
                          <a:ea typeface="+mn-ea"/>
                        </a:rPr>
                        <a:t>いずれも改ざんがないこと</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ja-JP" sz="1200" kern="0" dirty="0">
                          <a:effectLst/>
                          <a:latin typeface="+mn-ea"/>
                          <a:ea typeface="+mn-ea"/>
                        </a:rPr>
                        <a:t>運営事業者</a:t>
                      </a:r>
                      <a:endParaRPr kumimoji="1" lang="ja-JP" altLang="en-US" sz="12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4172415"/>
                  </a:ext>
                </a:extLst>
              </a:tr>
              <a:tr h="350585">
                <a:tc>
                  <a:txBody>
                    <a:bodyPr/>
                    <a:lstStyle/>
                    <a:p>
                      <a:pPr algn="l">
                        <a:lnSpc>
                          <a:spcPct val="100000"/>
                        </a:lnSpc>
                      </a:pPr>
                      <a:r>
                        <a:rPr lang="ja-JP" sz="1200" kern="0" dirty="0">
                          <a:effectLst/>
                          <a:latin typeface="+mn-ea"/>
                          <a:ea typeface="+mn-ea"/>
                        </a:rPr>
                        <a:t>規制物質対象リストの利用企業からの参照</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規制物質対象マスタ</a:t>
                      </a:r>
                      <a:r>
                        <a:rPr lang="en-US" altLang="ja-JP" sz="1200" kern="100" dirty="0">
                          <a:effectLst/>
                          <a:latin typeface="+mn-ea"/>
                          <a:ea typeface="+mn-ea"/>
                        </a:rPr>
                        <a:t>(</a:t>
                      </a:r>
                      <a:r>
                        <a:rPr lang="ja-JP" sz="1200" kern="0" dirty="0">
                          <a:effectLst/>
                          <a:latin typeface="+mn-ea"/>
                          <a:ea typeface="+mn-ea"/>
                        </a:rPr>
                        <a:t>運営事業者</a:t>
                      </a:r>
                      <a:r>
                        <a:rPr lang="en-US" altLang="ja-JP" sz="1200" kern="0" dirty="0">
                          <a:effectLst/>
                          <a:latin typeface="+mn-ea"/>
                          <a:ea typeface="+mn-ea"/>
                        </a:rPr>
                        <a:t>)</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管理団体以外での更新ができないこと</a:t>
                      </a:r>
                      <a:r>
                        <a:rPr lang="ja-JP" altLang="en-US" sz="1200" kern="0" dirty="0">
                          <a:effectLst/>
                          <a:latin typeface="+mn-ea"/>
                          <a:ea typeface="+mn-ea"/>
                        </a:rPr>
                        <a:t>。</a:t>
                      </a:r>
                      <a:r>
                        <a:rPr lang="ja-JP" sz="1200" kern="0" dirty="0">
                          <a:effectLst/>
                          <a:latin typeface="+mn-ea"/>
                          <a:ea typeface="+mn-ea"/>
                        </a:rPr>
                        <a:t>どの企業からも同じリストが参照できること</a:t>
                      </a:r>
                      <a:endParaRPr lang="ja-JP" sz="1200" kern="100" dirty="0">
                        <a:effectLst/>
                        <a:latin typeface="+mn-ea"/>
                        <a:ea typeface="+mn-ea"/>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ja-JP" sz="1200" kern="0" dirty="0">
                          <a:effectLst/>
                          <a:latin typeface="+mn-ea"/>
                          <a:ea typeface="+mn-ea"/>
                        </a:rPr>
                        <a:t>運営事業者および</a:t>
                      </a:r>
                      <a:endParaRPr lang="en-US" altLang="ja-JP" sz="1200" kern="0" dirty="0">
                        <a:effectLst/>
                        <a:latin typeface="+mn-ea"/>
                        <a:ea typeface="+mn-ea"/>
                      </a:endParaRPr>
                    </a:p>
                    <a:p>
                      <a:r>
                        <a:rPr lang="en-US" altLang="ja-JP" sz="1200" kern="0" dirty="0">
                          <a:effectLst/>
                          <a:latin typeface="+mn-ea"/>
                          <a:ea typeface="+mn-ea"/>
                        </a:rPr>
                        <a:t>AP</a:t>
                      </a:r>
                      <a:r>
                        <a:rPr lang="ja-JP" altLang="ja-JP" sz="1200" kern="0" dirty="0">
                          <a:effectLst/>
                          <a:latin typeface="+mn-ea"/>
                          <a:ea typeface="+mn-ea"/>
                        </a:rPr>
                        <a:t>ベンダー</a:t>
                      </a:r>
                      <a:endParaRPr kumimoji="1" lang="ja-JP" altLang="en-US" sz="12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0500453"/>
                  </a:ext>
                </a:extLst>
              </a:tr>
              <a:tr h="350585">
                <a:tc>
                  <a:txBody>
                    <a:bodyPr/>
                    <a:lstStyle/>
                    <a:p>
                      <a:pPr algn="l">
                        <a:lnSpc>
                          <a:spcPct val="100000"/>
                        </a:lnSpc>
                      </a:pPr>
                      <a:r>
                        <a:rPr lang="ja-JP" sz="1200" kern="0" dirty="0">
                          <a:effectLst/>
                          <a:latin typeface="+mn-ea"/>
                          <a:ea typeface="+mn-ea"/>
                        </a:rPr>
                        <a:t>既存システム連携の検証</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化学物質データ</a:t>
                      </a:r>
                      <a:r>
                        <a:rPr lang="en-US" altLang="ja-JP" sz="1200" kern="0" dirty="0">
                          <a:effectLst/>
                          <a:latin typeface="+mn-ea"/>
                          <a:ea typeface="+mn-ea"/>
                        </a:rPr>
                        <a:t>(</a:t>
                      </a:r>
                      <a:r>
                        <a:rPr lang="ja-JP" sz="1200" kern="0" dirty="0">
                          <a:effectLst/>
                          <a:latin typeface="+mn-ea"/>
                          <a:ea typeface="+mn-ea"/>
                        </a:rPr>
                        <a:t>各者システム</a:t>
                      </a:r>
                      <a:r>
                        <a:rPr lang="en-US" altLang="ja-JP" sz="1200" kern="0" dirty="0">
                          <a:effectLst/>
                          <a:latin typeface="+mn-ea"/>
                          <a:ea typeface="+mn-ea"/>
                        </a:rPr>
                        <a:t>)</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本システム外の既存システムと物質データの伝達が可能であること</a:t>
                      </a:r>
                      <a:endParaRPr lang="ja-JP" sz="1200" kern="100" dirty="0">
                        <a:effectLst/>
                        <a:latin typeface="+mn-ea"/>
                        <a:ea typeface="+mn-ea"/>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ja-JP" sz="1200" kern="0" dirty="0">
                          <a:effectLst/>
                          <a:latin typeface="+mn-ea"/>
                          <a:ea typeface="+mn-ea"/>
                        </a:rPr>
                        <a:t>運営事業者および</a:t>
                      </a:r>
                      <a:endParaRPr lang="en-US" altLang="ja-JP" sz="1200" kern="0" dirty="0">
                        <a:effectLst/>
                        <a:latin typeface="+mn-ea"/>
                        <a:ea typeface="+mn-ea"/>
                      </a:endParaRPr>
                    </a:p>
                    <a:p>
                      <a:r>
                        <a:rPr lang="en-US" altLang="ja-JP" sz="1200" kern="0" dirty="0">
                          <a:effectLst/>
                          <a:latin typeface="+mn-ea"/>
                          <a:ea typeface="+mn-ea"/>
                        </a:rPr>
                        <a:t>AP</a:t>
                      </a:r>
                      <a:r>
                        <a:rPr lang="ja-JP" altLang="ja-JP" sz="1200" kern="0" dirty="0">
                          <a:effectLst/>
                          <a:latin typeface="+mn-ea"/>
                          <a:ea typeface="+mn-ea"/>
                        </a:rPr>
                        <a:t>ベンダー</a:t>
                      </a:r>
                      <a:endParaRPr kumimoji="1" lang="ja-JP" altLang="en-US" sz="12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892616"/>
                  </a:ext>
                </a:extLst>
              </a:tr>
              <a:tr h="350585">
                <a:tc>
                  <a:txBody>
                    <a:bodyPr/>
                    <a:lstStyle/>
                    <a:p>
                      <a:pPr algn="l">
                        <a:lnSpc>
                          <a:spcPct val="100000"/>
                        </a:lnSpc>
                      </a:pPr>
                      <a:r>
                        <a:rPr lang="ja-JP" sz="1200" kern="0" dirty="0">
                          <a:effectLst/>
                          <a:latin typeface="+mn-ea"/>
                          <a:ea typeface="+mn-ea"/>
                        </a:rPr>
                        <a:t>法人に属する利用者の妥当性</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本人の実在、法人への所属</a:t>
                      </a:r>
                      <a:r>
                        <a:rPr lang="en-US" altLang="ja-JP" sz="1200" kern="0" dirty="0">
                          <a:effectLst/>
                          <a:latin typeface="+mn-ea"/>
                          <a:ea typeface="+mn-ea"/>
                        </a:rPr>
                        <a:t>(</a:t>
                      </a:r>
                      <a:r>
                        <a:rPr lang="ja-JP" sz="1200" kern="0" dirty="0">
                          <a:effectLst/>
                          <a:latin typeface="+mn-ea"/>
                          <a:ea typeface="+mn-ea"/>
                        </a:rPr>
                        <a:t>利用企業</a:t>
                      </a:r>
                      <a:r>
                        <a:rPr lang="en-US" altLang="ja-JP" sz="1200" kern="0" dirty="0">
                          <a:effectLst/>
                          <a:latin typeface="+mn-ea"/>
                          <a:ea typeface="+mn-ea"/>
                        </a:rPr>
                        <a:t>)</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ja-JP" sz="1200" kern="0" dirty="0">
                          <a:effectLst/>
                          <a:latin typeface="+mn-ea"/>
                          <a:ea typeface="+mn-ea"/>
                        </a:rPr>
                        <a:t>企業窓口担当者は電子契約</a:t>
                      </a:r>
                      <a:br>
                        <a:rPr lang="en-US" sz="1200" kern="0" dirty="0">
                          <a:effectLst/>
                          <a:latin typeface="+mn-ea"/>
                          <a:ea typeface="+mn-ea"/>
                        </a:rPr>
                      </a:br>
                      <a:r>
                        <a:rPr lang="ja-JP" sz="1200" kern="0" dirty="0">
                          <a:effectLst/>
                          <a:latin typeface="+mn-ea"/>
                          <a:ea typeface="+mn-ea"/>
                        </a:rPr>
                        <a:t>所属利用者はメールアドレス、および窓口担当者承認</a:t>
                      </a:r>
                      <a:endParaRPr lang="ja-JP" sz="1200" kern="100" dirty="0">
                        <a:effectLst/>
                        <a:latin typeface="+mn-ea"/>
                        <a:ea typeface="+mn-ea"/>
                        <a:cs typeface="Cordia New" panose="020B0304020202020204" pitchFamily="34" charset="-34"/>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ja-JP" sz="1200" kern="0" dirty="0">
                          <a:effectLst/>
                          <a:latin typeface="+mn-ea"/>
                          <a:ea typeface="+mn-ea"/>
                        </a:rPr>
                        <a:t>運営事業者および</a:t>
                      </a:r>
                      <a:endParaRPr lang="en-US" altLang="ja-JP" sz="1200" kern="0" dirty="0">
                        <a:effectLst/>
                        <a:latin typeface="+mn-ea"/>
                        <a:ea typeface="+mn-ea"/>
                      </a:endParaRPr>
                    </a:p>
                    <a:p>
                      <a:r>
                        <a:rPr lang="ja-JP" altLang="ja-JP" sz="1200" kern="0" dirty="0">
                          <a:effectLst/>
                          <a:latin typeface="+mn-ea"/>
                          <a:ea typeface="+mn-ea"/>
                        </a:rPr>
                        <a:t>利用企業</a:t>
                      </a:r>
                      <a:endParaRPr kumimoji="1" lang="ja-JP" altLang="en-US" sz="12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470553"/>
                  </a:ext>
                </a:extLst>
              </a:tr>
            </a:tbl>
          </a:graphicData>
        </a:graphic>
      </p:graphicFrame>
      <p:sp>
        <p:nvSpPr>
          <p:cNvPr id="13" name="正方形/長方形 12"/>
          <p:cNvSpPr/>
          <p:nvPr/>
        </p:nvSpPr>
        <p:spPr>
          <a:xfrm>
            <a:off x="168577" y="4895850"/>
            <a:ext cx="1199300" cy="1913939"/>
          </a:xfrm>
          <a:prstGeom prst="rect">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主な成果</a:t>
            </a:r>
            <a:endParaRPr kumimoji="1" lang="en-US" altLang="ja-JP"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16" name="正方形/長方形 15"/>
          <p:cNvSpPr/>
          <p:nvPr/>
        </p:nvSpPr>
        <p:spPr>
          <a:xfrm>
            <a:off x="1444977" y="4886325"/>
            <a:ext cx="8299098" cy="1913939"/>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R="0" lvl="0" algn="l" defTabSz="914400" rtl="0" eaLnBrk="1" fontAlgn="auto" latinLnBrk="0" hangingPunct="1">
              <a:lnSpc>
                <a:spcPts val="1600"/>
              </a:lnSpc>
              <a:spcBef>
                <a:spcPts val="0"/>
              </a:spcBef>
              <a:spcAft>
                <a:spcPts val="0"/>
              </a:spcAft>
              <a:buClrTx/>
              <a:buSzTx/>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［ガバナンス］</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ts val="1600"/>
              </a:lnSpc>
              <a:spcBef>
                <a:spcPts val="0"/>
              </a:spcBef>
              <a:spcAft>
                <a:spcPts val="0"/>
              </a:spcAft>
              <a:buClrTx/>
              <a:buSzTx/>
              <a:buFont typeface="Wingdings" panose="05000000000000000000" pitchFamily="2" charset="2"/>
              <a:buChar char="l"/>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プラットフォームの詳細な機能は確定していないが、システムの検討と並行して、既存の情報伝達スキームである</a:t>
            </a: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chemSHERPA</a:t>
            </a: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などの「利用ルール」を参考として、準備・検討を開始した。</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p>
            <a:pPr marR="0" lvl="0" algn="l" defTabSz="914400" rtl="0" eaLnBrk="1" fontAlgn="auto" latinLnBrk="0" hangingPunct="1">
              <a:lnSpc>
                <a:spcPts val="1600"/>
              </a:lnSpc>
              <a:spcBef>
                <a:spcPts val="0"/>
              </a:spcBef>
              <a:spcAft>
                <a:spcPts val="0"/>
              </a:spcAft>
              <a:buClrTx/>
              <a:buSzTx/>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［コミュニティ］</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ts val="1600"/>
              </a:lnSpc>
              <a:spcBef>
                <a:spcPts val="0"/>
              </a:spcBef>
              <a:spcAft>
                <a:spcPts val="0"/>
              </a:spcAft>
              <a:buClrTx/>
              <a:buSzTx/>
              <a:buFont typeface="Wingdings" panose="05000000000000000000" pitchFamily="2" charset="2"/>
              <a:buChar char="l"/>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CMP</a:t>
            </a: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の検討を行う有志企業の集まり自体が、コミュニティ形成の重要な核となりつつある。提案段階では参加の少なかった、川中企業</a:t>
            </a:r>
            <a:r>
              <a:rPr kumimoji="1" lang="ja-JP" altLang="en-US" sz="1400" dirty="0">
                <a:solidFill>
                  <a:schemeClr val="tx1"/>
                </a:solidFill>
                <a:latin typeface="Meiryo UI" panose="020B0604030504040204" pitchFamily="50" charset="-128"/>
                <a:ea typeface="Meiryo UI" panose="020B0604030504040204" pitchFamily="50" charset="-128"/>
              </a:rPr>
              <a:t>や中小企業も</a:t>
            </a: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検討に参加し、サプライチェーンの川上、川中、川下の企業、企業規模の面でもバランスが取れたメンバー構成となりつつある。</a:t>
            </a:r>
          </a:p>
          <a:p>
            <a:pPr marL="171450" marR="0" lvl="0" indent="-171450" algn="l" defTabSz="914400" rtl="0" eaLnBrk="1" fontAlgn="auto" latinLnBrk="0" hangingPunct="1">
              <a:lnSpc>
                <a:spcPts val="1600"/>
              </a:lnSpc>
              <a:spcBef>
                <a:spcPts val="0"/>
              </a:spcBef>
              <a:spcAft>
                <a:spcPts val="0"/>
              </a:spcAft>
              <a:buClrTx/>
              <a:buSzTx/>
              <a:buFont typeface="Wingdings" panose="05000000000000000000" pitchFamily="2" charset="2"/>
              <a:buChar char="l"/>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今後は、タスクフォースに参加した企業を起点として、サプライチェーンに周知・展開し、コミュニティが自律的に形成されていくような検討・運用を進めることになる。</a:t>
            </a:r>
            <a:endParaRPr kumimoji="1" lang="en-US" altLang="ja-JP" sz="1400" dirty="0">
              <a:solidFill>
                <a:schemeClr val="tx1"/>
              </a:solidFill>
              <a:latin typeface="Meiryo UI" panose="020B0604030504040204" pitchFamily="50" charset="-128"/>
              <a:ea typeface="Meiryo UI" panose="020B0604030504040204" pitchFamily="50" charset="-128"/>
            </a:endParaRPr>
          </a:p>
        </p:txBody>
      </p:sp>
      <p:sp>
        <p:nvSpPr>
          <p:cNvPr id="14" name="正方形/長方形 13"/>
          <p:cNvSpPr/>
          <p:nvPr/>
        </p:nvSpPr>
        <p:spPr>
          <a:xfrm>
            <a:off x="1448937" y="3588964"/>
            <a:ext cx="8285613" cy="1249735"/>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R="0" lvl="0" algn="l" defTabSz="914400" rtl="0" eaLnBrk="1" fontAlgn="auto" latinLnBrk="0" hangingPunct="1">
              <a:lnSpc>
                <a:spcPts val="1600"/>
              </a:lnSpc>
              <a:spcBef>
                <a:spcPts val="0"/>
              </a:spcBef>
              <a:spcAft>
                <a:spcPts val="0"/>
              </a:spcAft>
              <a:buClrTx/>
              <a:buSzTx/>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［ガバナンス］</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p>
            <a:pPr marL="180975" marR="0" lvl="0" indent="-180975" algn="l" defTabSz="914400" rtl="0" eaLnBrk="1" fontAlgn="auto" latinLnBrk="0" hangingPunct="1">
              <a:lnSpc>
                <a:spcPts val="1600"/>
              </a:lnSpc>
              <a:spcBef>
                <a:spcPts val="0"/>
              </a:spcBef>
              <a:spcAft>
                <a:spcPts val="0"/>
              </a:spcAft>
              <a:buClrTx/>
              <a:buSzTx/>
              <a:buFont typeface="Wingdings" panose="05000000000000000000" pitchFamily="2" charset="2"/>
              <a:buChar char="l"/>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プラットフォームの機能で実現できる範囲が従来の製品含有化学物質情報伝達スキームよりも拡大するが、サプライチェーンに関わる様々な企業が</a:t>
            </a: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CMP</a:t>
            </a: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を利用して情報授受するためには、その利用ルールが必要と考え、検討を実施</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R="0" lvl="0" algn="l" defTabSz="914400" rtl="0" eaLnBrk="1" fontAlgn="auto" latinLnBrk="0" hangingPunct="1">
              <a:lnSpc>
                <a:spcPts val="1600"/>
              </a:lnSpc>
              <a:spcBef>
                <a:spcPts val="0"/>
              </a:spcBef>
              <a:spcAft>
                <a:spcPts val="0"/>
              </a:spcAft>
              <a:buClrTx/>
              <a:buSzTx/>
              <a:tabLst/>
              <a:defRPr/>
            </a:pPr>
            <a:r>
              <a:rPr kumimoji="1" lang="ja-JP" altLang="en-US" sz="1400" dirty="0">
                <a:solidFill>
                  <a:schemeClr val="tx1"/>
                </a:solidFill>
                <a:latin typeface="Meiryo UI" panose="020B0604030504040204" pitchFamily="50" charset="-128"/>
                <a:ea typeface="Meiryo UI" panose="020B0604030504040204" pitchFamily="50" charset="-128"/>
              </a:rPr>
              <a:t>［コミュニティ］</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180975" lvl="0" indent="-180975" fontAlgn="auto">
              <a:lnSpc>
                <a:spcPts val="1600"/>
              </a:lnSpc>
              <a:spcBef>
                <a:spcPts val="0"/>
              </a:spcBef>
              <a:spcAft>
                <a:spcPts val="0"/>
              </a:spcAft>
              <a:buFont typeface="Wingdings" panose="05000000000000000000" pitchFamily="2" charset="2"/>
              <a:buChar char="l"/>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サプライチェーン全体で使用されるプラットフォームとするために重要。技術的な検討だけでなく、サプライチェーンにおけるニーズを把握し、バランスよくシステム機能に取り込んでいくことが必要と考え、可能な範囲で活動</a:t>
            </a:r>
          </a:p>
        </p:txBody>
      </p:sp>
      <p:sp>
        <p:nvSpPr>
          <p:cNvPr id="6" name="正方形/長方形 5">
            <a:extLst>
              <a:ext uri="{FF2B5EF4-FFF2-40B4-BE49-F238E27FC236}">
                <a16:creationId xmlns:a16="http://schemas.microsoft.com/office/drawing/2014/main" id="{26C4BC62-EEB8-0E2E-885A-1076A8006D05}"/>
              </a:ext>
            </a:extLst>
          </p:cNvPr>
          <p:cNvSpPr/>
          <p:nvPr/>
        </p:nvSpPr>
        <p:spPr>
          <a:xfrm>
            <a:off x="168577" y="3583792"/>
            <a:ext cx="1199300" cy="1259672"/>
          </a:xfrm>
          <a:prstGeom prst="rect">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ガバナンス策定・コミュニティ活動</a:t>
            </a:r>
          </a:p>
        </p:txBody>
      </p:sp>
      <p:sp>
        <p:nvSpPr>
          <p:cNvPr id="11" name="タイトル 6">
            <a:extLst>
              <a:ext uri="{FF2B5EF4-FFF2-40B4-BE49-F238E27FC236}">
                <a16:creationId xmlns:a16="http://schemas.microsoft.com/office/drawing/2014/main" id="{15F24361-039D-76F1-7786-CF52D78B25BC}"/>
              </a:ext>
            </a:extLst>
          </p:cNvPr>
          <p:cNvSpPr>
            <a:spLocks noGrp="1"/>
          </p:cNvSpPr>
          <p:nvPr>
            <p:ph type="title"/>
          </p:nvPr>
        </p:nvSpPr>
        <p:spPr>
          <a:xfrm>
            <a:off x="255070" y="85714"/>
            <a:ext cx="9072000" cy="933458"/>
          </a:xfrm>
        </p:spPr>
        <p:txBody>
          <a:bodyPr vert="horz"/>
          <a:lstStyle/>
          <a:p>
            <a:r>
              <a:rPr lang="ja-JP" altLang="en-US" dirty="0">
                <a:latin typeface="Meiryo UI" panose="020B0604030504040204" pitchFamily="50" charset="-128"/>
                <a:ea typeface="Meiryo UI" panose="020B0604030504040204" pitchFamily="50" charset="-128"/>
              </a:rPr>
              <a:t>ものづくりのサプライチェーンにおける製品含有化学物質情報等の</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確実な伝達を可能とする</a:t>
            </a:r>
            <a:r>
              <a:rPr lang="en-US" altLang="ja-JP" dirty="0">
                <a:latin typeface="Meiryo UI" panose="020B0604030504040204" pitchFamily="50" charset="-128"/>
                <a:ea typeface="Meiryo UI" panose="020B0604030504040204" pitchFamily="50" charset="-128"/>
              </a:rPr>
              <a:t>Chemical Management Platform(CMP)</a:t>
            </a:r>
            <a:br>
              <a:rPr lang="en-US" altLang="ja-JP" dirty="0">
                <a:latin typeface="Meiryo UI" panose="020B0604030504040204" pitchFamily="50" charset="-128"/>
                <a:ea typeface="Meiryo UI" panose="020B0604030504040204" pitchFamily="50" charset="-128"/>
              </a:rPr>
            </a:br>
            <a:r>
              <a:rPr lang="en-US" altLang="ja-JP"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みずほリサーチ</a:t>
            </a:r>
            <a:r>
              <a:rPr lang="en-US" altLang="ja-JP" sz="2000" b="1" dirty="0">
                <a:latin typeface="Meiryo UI" panose="020B0604030504040204" pitchFamily="50" charset="-128"/>
                <a:ea typeface="Meiryo UI" panose="020B0604030504040204" pitchFamily="50" charset="-128"/>
              </a:rPr>
              <a:t>&amp;</a:t>
            </a:r>
            <a:r>
              <a:rPr lang="ja-JP" altLang="en-US" sz="2000" b="1" dirty="0">
                <a:latin typeface="Meiryo UI" panose="020B0604030504040204" pitchFamily="50" charset="-128"/>
                <a:ea typeface="Meiryo UI" panose="020B0604030504040204" pitchFamily="50" charset="-128"/>
              </a:rPr>
              <a:t>テクノロジーズ株式会社</a:t>
            </a:r>
            <a:r>
              <a:rPr lang="en-US"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 </a:t>
            </a:r>
            <a:r>
              <a:rPr lang="en-US" altLang="ja-JP" sz="2000" b="1"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2/2)</a:t>
            </a: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250962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EE4P_LANGUAGE_ID" val="104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short.pptx" id="{52AA5A50-534E-4FF2-A9C6-60384768A59E}" vid="{85CCAD22-7E6D-4231-9414-B57367F235CD}"/>
    </a:ext>
  </a:extLst>
</a:theme>
</file>

<file path=ppt/theme/theme2.xml><?xml version="1.0" encoding="utf-8"?>
<a:theme xmlns:a="http://schemas.openxmlformats.org/drawingml/2006/main" name="DT Template_A4_J_202201_補足版">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short.pptx" id="{52AA5A50-534E-4FF2-A9C6-60384768A59E}" vid="{EED4BD06-167B-411A-9FD1-45F88793FDF7}"/>
    </a:ext>
  </a:extLst>
</a:theme>
</file>

<file path=ppt/theme/theme3.xml><?xml version="1.0" encoding="utf-8"?>
<a:theme xmlns:a="http://schemas.openxmlformats.org/drawingml/2006/main" name="コンテンツ_Light">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プレゼンテーション1" id="{9BE4AC99-9524-4C86-9F6B-98F0734C1A1A}" vid="{C97799C5-0B34-476C-8164-9C29E7589C3D}"/>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9B6F9B428D7634495880DE4F0D8D879" ma:contentTypeVersion="12" ma:contentTypeDescription="新しいドキュメントを作成します。" ma:contentTypeScope="" ma:versionID="fc08b5dad98e6f6d8f5f2a35db9e8729">
  <xsd:schema xmlns:xsd="http://www.w3.org/2001/XMLSchema" xmlns:xs="http://www.w3.org/2001/XMLSchema" xmlns:p="http://schemas.microsoft.com/office/2006/metadata/properties" xmlns:ns2="b8d61b6e-2b10-43a3-a2ce-3f7d4d0c929e" xmlns:ns3="ff5bdd6e-cdf8-469d-93d0-f7a8c007309d" targetNamespace="http://schemas.microsoft.com/office/2006/metadata/properties" ma:root="true" ma:fieldsID="373401851f10c928940e7bdebc0e62c4" ns2:_="" ns3:_="">
    <xsd:import namespace="b8d61b6e-2b10-43a3-a2ce-3f7d4d0c929e"/>
    <xsd:import namespace="ff5bdd6e-cdf8-469d-93d0-f7a8c00730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d61b6e-2b10-43a3-a2ce-3f7d4d0c92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5bdd6e-cdf8-469d-93d0-f7a8c00730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4cf278e-2034-4d2d-8b8d-d0c50db40621}" ma:internalName="TaxCatchAll" ma:showField="CatchAllData" ma:web="ff5bdd6e-cdf8-469d-93d0-f7a8c00730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B819A-B3B5-40CB-A529-04D61B430BBC}">
  <ds:schemaRefs>
    <ds:schemaRef ds:uri="http://schemas.microsoft.com/sharepoint/v3/contenttype/forms"/>
  </ds:schemaRefs>
</ds:datastoreItem>
</file>

<file path=customXml/itemProps2.xml><?xml version="1.0" encoding="utf-8"?>
<ds:datastoreItem xmlns:ds="http://schemas.openxmlformats.org/officeDocument/2006/customXml" ds:itemID="{456370A2-9898-40F7-A1BB-CF91C84BF7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d61b6e-2b10-43a3-a2ce-3f7d4d0c929e"/>
    <ds:schemaRef ds:uri="ff5bdd6e-cdf8-469d-93d0-f7a8c00730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768</Words>
  <Application>Microsoft Office PowerPoint</Application>
  <PresentationFormat>A4 210 x 297 mm</PresentationFormat>
  <Paragraphs>52</Paragraphs>
  <Slides>2</Slides>
  <Notes>1</Notes>
  <HiddenSlides>0</HiddenSlides>
  <MMClips>0</MMClips>
  <ScaleCrop>false</ScaleCrop>
  <HeadingPairs>
    <vt:vector size="8" baseType="variant">
      <vt:variant>
        <vt:lpstr>使用されているフォント</vt:lpstr>
      </vt:variant>
      <vt:variant>
        <vt:i4>6</vt:i4>
      </vt:variant>
      <vt:variant>
        <vt:lpstr>テーマ</vt:lpstr>
      </vt:variant>
      <vt:variant>
        <vt:i4>3</vt:i4>
      </vt:variant>
      <vt:variant>
        <vt:lpstr>埋め込まれた OLE サーバー</vt:lpstr>
      </vt:variant>
      <vt:variant>
        <vt:i4>1</vt:i4>
      </vt:variant>
      <vt:variant>
        <vt:lpstr>スライド タイトル</vt:lpstr>
      </vt:variant>
      <vt:variant>
        <vt:i4>2</vt:i4>
      </vt:variant>
    </vt:vector>
  </HeadingPairs>
  <TitlesOfParts>
    <vt:vector size="12" baseType="lpstr">
      <vt:lpstr>Meiryo UI</vt:lpstr>
      <vt:lpstr>Arial</vt:lpstr>
      <vt:lpstr>Calibri</vt:lpstr>
      <vt:lpstr>Calibri Light</vt:lpstr>
      <vt:lpstr>Verdana</vt:lpstr>
      <vt:lpstr>Wingdings</vt:lpstr>
      <vt:lpstr>DT Template_A4_J_202201</vt:lpstr>
      <vt:lpstr>DT Template_A4_J_202201_補足版</vt:lpstr>
      <vt:lpstr>コンテンツ_Light</vt:lpstr>
      <vt:lpstr>think-cell スライド</vt:lpstr>
      <vt:lpstr>ものづくりのサプライチェーンにおける製品含有化学物質情報等の 確実な伝達を可能とするChemical Management Platform(CMP) (みずほリサーチ&amp;テクノロジーズ株式会社) (1/2)</vt:lpstr>
      <vt:lpstr>ものづくりのサプライチェーンにおける製品含有化学物質情報等の 確実な伝達を可能とするChemical Management Platform(CMP) (みずほリサーチ&amp;テクノロジーズ株式会社) (2/2)</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2024-03-05T00:25:33Z</dcterms:created>
  <dcterms:modified xsi:type="dcterms:W3CDTF">2024-06-11T04:06:13Z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2024-03-05T00:25:40Z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7d92cd00-89e3-4ca9-bba7-6f0909a9deb5</vt:lpwstr>
  </property>
  <property fmtid="{D5CDD505-2E9C-101B-9397-08002B2CF9AE}" pid="8" name="MSIP_Label_ea60d57e-af5b-4752-ac57-3e4f28ca11dc_ContentBits">
    <vt:lpwstr>0</vt:lpwstr>
  </property>
</Properties>
</file>